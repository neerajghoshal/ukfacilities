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32"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Gill Sans MT" panose="020B0502020104020203" pitchFamily="34" charset="0"/>
      <p:regular r:id="rId13"/>
      <p:bold r:id="rId14"/>
      <p:italic r:id="rId15"/>
      <p:boldItalic r:id="rId16"/>
    </p:embeddedFont>
    <p:embeddedFont>
      <p:font typeface="Playfair Display Semi Bold" panose="020B0604020202020204" charset="0"/>
      <p:regular r:id="rId17"/>
    </p:embeddedFont>
    <p:embeddedFont>
      <p:font typeface="Public Sans" panose="020B0604020202020204" charset="0"/>
      <p:regular r:id="rId1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E40E42-B35B-476E-A8DC-9E366A786785}" v="16" dt="2025-11-12T07:45:17.3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3.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ltra_kleanfms2025@outlook.com" userId="e59ceef2a6c47816" providerId="LiveId" clId="{9713C8AA-1DA6-43EB-A7A7-D6B0EEEF670E}"/>
    <pc:docChg chg="modSld">
      <pc:chgData name="ultra_kleanfms2025@outlook.com" userId="e59ceef2a6c47816" providerId="LiveId" clId="{9713C8AA-1DA6-43EB-A7A7-D6B0EEEF670E}" dt="2025-11-12T07:45:17.387" v="15"/>
      <pc:docMkLst>
        <pc:docMk/>
      </pc:docMkLst>
      <pc:sldChg chg="modAnim">
        <pc:chgData name="ultra_kleanfms2025@outlook.com" userId="e59ceef2a6c47816" providerId="LiveId" clId="{9713C8AA-1DA6-43EB-A7A7-D6B0EEEF670E}" dt="2025-11-12T07:45:17.387" v="15"/>
        <pc:sldMkLst>
          <pc:docMk/>
          <pc:sldMk cId="0"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0599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901335" y="962758"/>
            <a:ext cx="10364488" cy="3049717"/>
          </a:xfrm>
        </p:spPr>
        <p:txBody>
          <a:bodyPr bIns="0" anchor="b">
            <a:normAutofit/>
          </a:bodyPr>
          <a:lstStyle>
            <a:lvl1pPr algn="l">
              <a:defRPr sz="7920"/>
            </a:lvl1pPr>
          </a:lstStyle>
          <a:p>
            <a:r>
              <a:rPr lang="en-US"/>
              <a:t>Click to edit Master title style</a:t>
            </a:r>
            <a:endParaRPr lang="en-US" dirty="0"/>
          </a:p>
        </p:txBody>
      </p:sp>
      <p:sp>
        <p:nvSpPr>
          <p:cNvPr id="3" name="Subtitle 2"/>
          <p:cNvSpPr>
            <a:spLocks noGrp="1"/>
          </p:cNvSpPr>
          <p:nvPr>
            <p:ph type="subTitle" idx="1"/>
          </p:nvPr>
        </p:nvSpPr>
        <p:spPr>
          <a:xfrm>
            <a:off x="2901336" y="4237446"/>
            <a:ext cx="10364486" cy="1173145"/>
          </a:xfrm>
        </p:spPr>
        <p:txBody>
          <a:bodyPr tIns="91440" bIns="91440">
            <a:normAutofit/>
          </a:bodyPr>
          <a:lstStyle>
            <a:lvl1pPr marL="0" indent="0" algn="l">
              <a:buNone/>
              <a:defRPr sz="2160" b="0" cap="all" baseline="0">
                <a:solidFill>
                  <a:schemeClr val="tx1"/>
                </a:solidFill>
              </a:defRPr>
            </a:lvl1pPr>
            <a:lvl2pPr marL="548640" indent="0" algn="ctr">
              <a:buNone/>
              <a:defRPr sz="216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2/24/2026</a:t>
            </a:fld>
            <a:endParaRPr lang="en-US" dirty="0"/>
          </a:p>
        </p:txBody>
      </p:sp>
      <p:sp>
        <p:nvSpPr>
          <p:cNvPr id="5" name="Footer Placeholder 4"/>
          <p:cNvSpPr>
            <a:spLocks noGrp="1"/>
          </p:cNvSpPr>
          <p:nvPr>
            <p:ph type="ftr" sz="quarter" idx="11"/>
          </p:nvPr>
        </p:nvSpPr>
        <p:spPr>
          <a:xfrm>
            <a:off x="2899801" y="395169"/>
            <a:ext cx="5968698" cy="371041"/>
          </a:xfrm>
        </p:spPr>
        <p:txBody>
          <a:bodyPr/>
          <a:lstStyle/>
          <a:p>
            <a:endParaRPr lang="en-US" dirty="0"/>
          </a:p>
        </p:txBody>
      </p:sp>
      <p:sp>
        <p:nvSpPr>
          <p:cNvPr id="6" name="Slide Number Placeholder 5"/>
          <p:cNvSpPr>
            <a:spLocks noGrp="1"/>
          </p:cNvSpPr>
          <p:nvPr>
            <p:ph type="sldNum" sz="quarter" idx="12"/>
          </p:nvPr>
        </p:nvSpPr>
        <p:spPr>
          <a:xfrm>
            <a:off x="1725197" y="958767"/>
            <a:ext cx="973223" cy="604294"/>
          </a:xfrm>
        </p:spPr>
        <p:txBody>
          <a:bodyPr/>
          <a:lstStyle/>
          <a:p>
            <a:fld id="{6D22F896-40B5-4ADD-8801-0D06FADFA095}" type="slidenum">
              <a:rPr lang="en-US" smtClean="0"/>
              <a:t>‹#›</a:t>
            </a:fld>
            <a:endParaRPr lang="en-US" dirty="0"/>
          </a:p>
        </p:txBody>
      </p:sp>
      <p:cxnSp>
        <p:nvCxnSpPr>
          <p:cNvPr id="15" name="Straight Connector 14"/>
          <p:cNvCxnSpPr/>
          <p:nvPr/>
        </p:nvCxnSpPr>
        <p:spPr>
          <a:xfrm>
            <a:off x="2901336" y="4234250"/>
            <a:ext cx="1036448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5564104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33" name="Straight Connector 32"/>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3090931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45087" y="2107356"/>
            <a:ext cx="10371785" cy="2265540"/>
          </a:xfrm>
        </p:spPr>
        <p:txBody>
          <a:bodyPr anchor="b">
            <a:normAutofit/>
          </a:bodyPr>
          <a:lstStyle>
            <a:lvl1pPr algn="l">
              <a:defRPr sz="4320"/>
            </a:lvl1pPr>
          </a:lstStyle>
          <a:p>
            <a:r>
              <a:rPr lang="en-US"/>
              <a:t>Click to edit Master title style</a:t>
            </a:r>
            <a:endParaRPr lang="en-US" dirty="0"/>
          </a:p>
        </p:txBody>
      </p:sp>
      <p:sp>
        <p:nvSpPr>
          <p:cNvPr id="3" name="Text Placeholder 2"/>
          <p:cNvSpPr>
            <a:spLocks noGrp="1"/>
          </p:cNvSpPr>
          <p:nvPr>
            <p:ph type="body" idx="1"/>
          </p:nvPr>
        </p:nvSpPr>
        <p:spPr>
          <a:xfrm>
            <a:off x="1745087" y="4567435"/>
            <a:ext cx="10356535" cy="1215515"/>
          </a:xfrm>
        </p:spPr>
        <p:txBody>
          <a:bodyPr tIns="91440">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5" name="Straight Connector 14"/>
          <p:cNvCxnSpPr/>
          <p:nvPr/>
        </p:nvCxnSpPr>
        <p:spPr>
          <a:xfrm>
            <a:off x="1745087" y="4565982"/>
            <a:ext cx="103565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4032415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739061" y="965867"/>
            <a:ext cx="11526762" cy="127116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736797" y="2413054"/>
            <a:ext cx="5574182" cy="41383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96525" y="2420812"/>
            <a:ext cx="5574182" cy="41298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35" name="Straight Connector 34"/>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5437245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36630" y="964996"/>
            <a:ext cx="11529193" cy="126758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736629" y="2423459"/>
            <a:ext cx="5574182" cy="962332"/>
          </a:xfrm>
        </p:spPr>
        <p:txBody>
          <a:bodyPr anchor="b">
            <a:normAutofit/>
          </a:bodyPr>
          <a:lstStyle>
            <a:lvl1pPr marL="0" indent="0">
              <a:lnSpc>
                <a:spcPct val="100000"/>
              </a:lnSpc>
              <a:buNone/>
              <a:defRPr sz="2640" b="0" cap="all" baseline="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736629" y="3389124"/>
            <a:ext cx="5574182" cy="31733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94835" y="2427604"/>
            <a:ext cx="5574182" cy="962684"/>
          </a:xfrm>
        </p:spPr>
        <p:txBody>
          <a:bodyPr anchor="b">
            <a:normAutofit/>
          </a:bodyPr>
          <a:lstStyle>
            <a:lvl1pPr marL="0" indent="0">
              <a:lnSpc>
                <a:spcPct val="100000"/>
              </a:lnSpc>
              <a:buNone/>
              <a:defRPr sz="2640" b="0" cap="all" baseline="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694835" y="3385790"/>
            <a:ext cx="5574182" cy="31648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2/24/2026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cxnSp>
        <p:nvCxnSpPr>
          <p:cNvPr id="29" name="Straight Connector 28"/>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4493058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2/24/2026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cxnSp>
        <p:nvCxnSpPr>
          <p:cNvPr id="25" name="Straight Connector 24"/>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6179521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2/24/2026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2921674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3606" y="958768"/>
            <a:ext cx="3927719" cy="2696540"/>
          </a:xfrm>
        </p:spPr>
        <p:txBody>
          <a:bodyPr anchor="b">
            <a:normAutofit/>
          </a:bodyPr>
          <a:lstStyle>
            <a:lvl1pPr algn="l">
              <a:defRPr sz="2880"/>
            </a:lvl1pPr>
          </a:lstStyle>
          <a:p>
            <a:r>
              <a:rPr lang="en-US"/>
              <a:t>Click to edit Master title style</a:t>
            </a:r>
            <a:endParaRPr lang="en-US" dirty="0"/>
          </a:p>
        </p:txBody>
      </p:sp>
      <p:sp>
        <p:nvSpPr>
          <p:cNvPr id="3" name="Content Placeholder 2"/>
          <p:cNvSpPr>
            <a:spLocks noGrp="1"/>
          </p:cNvSpPr>
          <p:nvPr>
            <p:ph idx="1"/>
          </p:nvPr>
        </p:nvSpPr>
        <p:spPr>
          <a:xfrm>
            <a:off x="6052457" y="958769"/>
            <a:ext cx="7214964" cy="559059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33606" y="3846590"/>
            <a:ext cx="3930016" cy="2697817"/>
          </a:xfrm>
        </p:spPr>
        <p:txBody>
          <a:bodyPr/>
          <a:lstStyle>
            <a:lvl1pPr marL="0" indent="0" algn="l">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17" name="Straight Connector 16"/>
          <p:cNvCxnSpPr/>
          <p:nvPr/>
        </p:nvCxnSpPr>
        <p:spPr>
          <a:xfrm>
            <a:off x="1737936" y="3846589"/>
            <a:ext cx="392338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7981521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8972865" y="578605"/>
            <a:ext cx="4889440" cy="617892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741447" y="1355416"/>
            <a:ext cx="6638794" cy="2196701"/>
          </a:xfrm>
        </p:spPr>
        <p:txBody>
          <a:bodyPr anchor="b">
            <a:normAutofit/>
          </a:bodyPr>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9749268" y="1347051"/>
            <a:ext cx="3349405" cy="4639592"/>
          </a:xfrm>
          <a:solidFill>
            <a:schemeClr val="bg1">
              <a:lumMod val="85000"/>
            </a:schemeClr>
          </a:solidFill>
          <a:ln w="9525" cap="sq">
            <a:noFill/>
            <a:miter lim="800000"/>
          </a:ln>
          <a:effectLst/>
        </p:spPr>
        <p:txBody>
          <a:bodyPr anchor="t"/>
          <a:lstStyle>
            <a:lvl1pPr marL="0" indent="0" algn="ctr">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740395" y="3775191"/>
            <a:ext cx="6629285" cy="2404490"/>
          </a:xfrm>
        </p:spPr>
        <p:txBody>
          <a:bodyPr>
            <a:normAutofit/>
          </a:bodyPr>
          <a:lstStyle>
            <a:lvl1pPr marL="0" indent="0" algn="l">
              <a:buNone/>
              <a:defRPr sz="216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a:xfrm>
            <a:off x="1736859" y="6563828"/>
            <a:ext cx="6632821" cy="384148"/>
          </a:xfrm>
        </p:spPr>
        <p:txBody>
          <a:bodyPr/>
          <a:lstStyle>
            <a:lvl1pPr algn="l">
              <a:defRPr/>
            </a:lvl1pPr>
          </a:lstStyle>
          <a:p>
            <a:fld id="{48A87A34-81AB-432B-8DAE-1953F412C126}" type="datetimeFigureOut">
              <a:rPr lang="en-US" smtClean="0"/>
              <a:pPr/>
              <a:t>2/24/2026</a:t>
            </a:fld>
            <a:endParaRPr lang="en-US" dirty="0"/>
          </a:p>
        </p:txBody>
      </p:sp>
      <p:sp>
        <p:nvSpPr>
          <p:cNvPr id="6" name="Footer Placeholder 5"/>
          <p:cNvSpPr>
            <a:spLocks noGrp="1"/>
          </p:cNvSpPr>
          <p:nvPr>
            <p:ph type="ftr" sz="quarter" idx="11"/>
          </p:nvPr>
        </p:nvSpPr>
        <p:spPr>
          <a:xfrm>
            <a:off x="1736858" y="382369"/>
            <a:ext cx="6649205" cy="385117"/>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31" name="Straight Connector 30"/>
          <p:cNvCxnSpPr/>
          <p:nvPr/>
        </p:nvCxnSpPr>
        <p:spPr>
          <a:xfrm>
            <a:off x="1736859" y="3772326"/>
            <a:ext cx="663282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1512828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26" name="Straight Connector 25"/>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9761060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326933" y="958768"/>
            <a:ext cx="1938890" cy="559186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733606" y="958768"/>
            <a:ext cx="9394596" cy="55918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5" name="Straight Connector 14"/>
          <p:cNvCxnSpPr/>
          <p:nvPr/>
        </p:nvCxnSpPr>
        <p:spPr>
          <a:xfrm>
            <a:off x="11326933" y="958768"/>
            <a:ext cx="0" cy="559186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1255892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24011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28162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415948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011544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11517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2975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71393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936867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00433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735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423372"/>
            <a:ext cx="14630400" cy="49271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23">
            <a:extLst>
              <a:ext uri="{28A0092B-C50C-407E-A947-70E740481C1C}">
                <a14:useLocalDpi xmlns:a14="http://schemas.microsoft.com/office/drawing/2010/main" val="0"/>
              </a:ext>
            </a:extLst>
          </a:blip>
          <a:srcRect t="1538" b="-1538"/>
          <a:stretch/>
        </p:blipFill>
        <p:spPr bwMode="black">
          <a:xfrm>
            <a:off x="0" y="7351776"/>
            <a:ext cx="14630400" cy="891540"/>
          </a:xfrm>
          <a:prstGeom prst="rect">
            <a:avLst/>
          </a:prstGeom>
        </p:spPr>
      </p:pic>
      <p:sp>
        <p:nvSpPr>
          <p:cNvPr id="2" name="Title Placeholder 1"/>
          <p:cNvSpPr>
            <a:spLocks noGrp="1"/>
          </p:cNvSpPr>
          <p:nvPr>
            <p:ph type="title"/>
          </p:nvPr>
        </p:nvSpPr>
        <p:spPr>
          <a:xfrm>
            <a:off x="1741895" y="965423"/>
            <a:ext cx="11523930" cy="125908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741895" y="2418879"/>
            <a:ext cx="11523930" cy="41407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064966" y="396445"/>
            <a:ext cx="4200858" cy="371041"/>
          </a:xfrm>
          <a:prstGeom prst="rect">
            <a:avLst/>
          </a:prstGeom>
        </p:spPr>
        <p:txBody>
          <a:bodyPr vert="horz" lIns="91440" tIns="45720" rIns="91440" bIns="45720" rtlCol="0" anchor="ctr"/>
          <a:lstStyle>
            <a:lvl1pPr algn="r">
              <a:defRPr sz="1200">
                <a:solidFill>
                  <a:schemeClr val="tx1">
                    <a:tint val="75000"/>
                  </a:schemeClr>
                </a:solidFill>
              </a:defRPr>
            </a:lvl1pPr>
          </a:lstStyle>
          <a:p>
            <a:fld id="{48A87A34-81AB-432B-8DAE-1953F412C126}" type="datetimeFigureOut">
              <a:rPr lang="en-US" smtClean="0"/>
              <a:pPr/>
              <a:t>2/24/2026</a:t>
            </a:fld>
            <a:endParaRPr lang="en-US" dirty="0"/>
          </a:p>
        </p:txBody>
      </p:sp>
      <p:sp>
        <p:nvSpPr>
          <p:cNvPr id="5" name="Footer Placeholder 4"/>
          <p:cNvSpPr>
            <a:spLocks noGrp="1"/>
          </p:cNvSpPr>
          <p:nvPr>
            <p:ph type="ftr" sz="quarter" idx="3"/>
          </p:nvPr>
        </p:nvSpPr>
        <p:spPr>
          <a:xfrm>
            <a:off x="1741895" y="395169"/>
            <a:ext cx="7126603" cy="371041"/>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76073" y="958767"/>
            <a:ext cx="973223" cy="604294"/>
          </a:xfrm>
          <a:prstGeom prst="rect">
            <a:avLst/>
          </a:prstGeom>
        </p:spPr>
        <p:txBody>
          <a:bodyPr vert="horz" lIns="91440" tIns="45720" rIns="91440" bIns="45720" rtlCol="0" anchor="t"/>
          <a:lstStyle>
            <a:lvl1pPr algn="r">
              <a:defRPr sz="3360">
                <a:solidFill>
                  <a:schemeClr val="accent1"/>
                </a:solidFill>
              </a:defRPr>
            </a:lvl1pPr>
          </a:lstStyle>
          <a:p>
            <a:fld id="{6D22F896-40B5-4ADD-8801-0D06FADFA095}" type="slidenum">
              <a:rPr lang="en-US" smtClean="0"/>
              <a:pPr/>
              <a:t>‹#›</a:t>
            </a:fld>
            <a:endParaRPr lang="en-US" dirty="0"/>
          </a:p>
        </p:txBody>
      </p:sp>
      <p:cxnSp>
        <p:nvCxnSpPr>
          <p:cNvPr id="10" name="Straight Connector 9"/>
          <p:cNvCxnSpPr/>
          <p:nvPr/>
        </p:nvCxnSpPr>
        <p:spPr>
          <a:xfrm>
            <a:off x="0" y="7354096"/>
            <a:ext cx="146304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98071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 id="2147483751" r:id="rId19"/>
    <p:sldLayoutId id="2147483752" r:id="rId20"/>
    <p:sldLayoutId id="2147483753" r:id="rId21"/>
  </p:sldLayoutIdLst>
  <p:hf sldNum="0" hdr="0" ftr="0" dt="0"/>
  <p:txStyles>
    <p:titleStyle>
      <a:lvl1pPr algn="l" defTabSz="1097280" rtl="0" eaLnBrk="1" latinLnBrk="0" hangingPunct="1">
        <a:lnSpc>
          <a:spcPct val="90000"/>
        </a:lnSpc>
        <a:spcBef>
          <a:spcPct val="0"/>
        </a:spcBef>
        <a:buNone/>
        <a:defRPr sz="3840" b="0" i="0" kern="1200" cap="all">
          <a:solidFill>
            <a:schemeClr val="tx1"/>
          </a:solidFill>
          <a:effectLst/>
          <a:latin typeface="+mj-lt"/>
          <a:ea typeface="+mj-ea"/>
          <a:cs typeface="+mj-cs"/>
        </a:defRPr>
      </a:lvl1pPr>
    </p:titleStyle>
    <p:bodyStyle>
      <a:lvl1pPr marL="274320" indent="-274320" algn="l" defTabSz="1097280" rtl="0" eaLnBrk="1" latinLnBrk="0" hangingPunct="1">
        <a:lnSpc>
          <a:spcPct val="120000"/>
        </a:lnSpc>
        <a:spcBef>
          <a:spcPts val="12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1pPr>
      <a:lvl2pPr marL="82296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2160" kern="1200" cap="none" baseline="0">
          <a:solidFill>
            <a:schemeClr val="tx1"/>
          </a:solidFill>
          <a:effectLst/>
          <a:latin typeface="+mn-lt"/>
          <a:ea typeface="+mn-ea"/>
          <a:cs typeface="+mn-cs"/>
        </a:defRPr>
      </a:lvl2pPr>
      <a:lvl3pPr marL="137160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920" kern="1200">
          <a:solidFill>
            <a:schemeClr val="tx1"/>
          </a:solidFill>
          <a:effectLst/>
          <a:latin typeface="+mn-lt"/>
          <a:ea typeface="+mn-ea"/>
          <a:cs typeface="+mn-cs"/>
        </a:defRPr>
      </a:lvl3pPr>
      <a:lvl4pPr marL="192024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680" kern="1200" cap="none" baseline="0">
          <a:solidFill>
            <a:schemeClr val="tx1"/>
          </a:solidFill>
          <a:effectLst/>
          <a:latin typeface="+mn-lt"/>
          <a:ea typeface="+mn-ea"/>
          <a:cs typeface="+mn-cs"/>
        </a:defRPr>
      </a:lvl4pPr>
      <a:lvl5pPr marL="246888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5pPr>
      <a:lvl6pPr marL="301752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6pPr>
      <a:lvl7pPr marL="356616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7pPr>
      <a:lvl8pPr marL="411480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baseline="0">
          <a:solidFill>
            <a:schemeClr val="tx1"/>
          </a:solidFill>
          <a:effectLst/>
          <a:latin typeface="+mn-lt"/>
          <a:ea typeface="+mn-ea"/>
          <a:cs typeface="+mn-cs"/>
        </a:defRPr>
      </a:lvl8pPr>
      <a:lvl9pPr marL="466344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baseline="0">
          <a:solidFill>
            <a:schemeClr val="tx1"/>
          </a:solidFill>
          <a:effectLst/>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1.xml"/><Relationship Id="rId5" Type="http://schemas.openxmlformats.org/officeDocument/2006/relationships/image" Target="../media/image27.jpe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95360" y="-17502"/>
            <a:ext cx="6035040" cy="8229600"/>
          </a:xfrm>
          <a:prstGeom prst="rect">
            <a:avLst/>
          </a:prstGeom>
        </p:spPr>
      </p:pic>
      <p:sp>
        <p:nvSpPr>
          <p:cNvPr id="3" name="Text 0"/>
          <p:cNvSpPr/>
          <p:nvPr/>
        </p:nvSpPr>
        <p:spPr>
          <a:xfrm>
            <a:off x="793790" y="3179564"/>
            <a:ext cx="7506533" cy="620078"/>
          </a:xfrm>
          <a:prstGeom prst="rect">
            <a:avLst/>
          </a:prstGeom>
          <a:noFill/>
          <a:ln/>
        </p:spPr>
        <p:txBody>
          <a:bodyPr wrap="none" lIns="0" tIns="0" rIns="0" bIns="0" rtlCol="0" anchor="t"/>
          <a:lstStyle/>
          <a:p>
            <a:pPr marL="0" indent="0" algn="l">
              <a:lnSpc>
                <a:spcPts val="4850"/>
              </a:lnSpc>
              <a:buNone/>
            </a:pPr>
            <a:r>
              <a:rPr lang="en-US" sz="3900" dirty="0">
                <a:solidFill>
                  <a:srgbClr val="4B6981"/>
                </a:solidFill>
                <a:latin typeface="Playfair Display Semi Bold" pitchFamily="34" charset="0"/>
                <a:ea typeface="Playfair Display Semi Bold" pitchFamily="34" charset="-122"/>
                <a:cs typeface="Playfair Display Semi Bold" pitchFamily="34" charset="-120"/>
              </a:rPr>
              <a:t>UK Facility Management Services</a:t>
            </a:r>
            <a:endParaRPr lang="en-US" sz="3900" dirty="0"/>
          </a:p>
        </p:txBody>
      </p:sp>
      <p:sp>
        <p:nvSpPr>
          <p:cNvPr id="4" name="Text 1"/>
          <p:cNvSpPr/>
          <p:nvPr/>
        </p:nvSpPr>
        <p:spPr>
          <a:xfrm>
            <a:off x="793790" y="4097298"/>
            <a:ext cx="7556421" cy="952619"/>
          </a:xfrm>
          <a:prstGeom prst="rect">
            <a:avLst/>
          </a:prstGeom>
          <a:noFill/>
          <a:ln/>
        </p:spPr>
        <p:txBody>
          <a:bodyPr wrap="square" lIns="0" tIns="0" rIns="0" bIns="0" rtlCol="0" anchor="t"/>
          <a:lstStyle/>
          <a:p>
            <a:pPr>
              <a:lnSpc>
                <a:spcPts val="2500"/>
              </a:lnSpc>
            </a:pPr>
            <a:r>
              <a:rPr lang="en-US" sz="1600" b="1" dirty="0"/>
              <a:t>UK Facility Management Services</a:t>
            </a:r>
            <a:r>
              <a:rPr lang="en-US" sz="1600" dirty="0"/>
              <a:t> is a trusted partner in comprehensive facility management and support solutions.</a:t>
            </a:r>
            <a:br>
              <a:rPr lang="en-US" sz="1600" dirty="0"/>
            </a:br>
            <a:r>
              <a:rPr lang="en-US" sz="1600" dirty="0"/>
              <a:t>We are committed to delivering excellence through reliable, efficient, and high-quality services tailored to client needs.</a:t>
            </a:r>
            <a:br>
              <a:rPr lang="en-US" sz="1600" dirty="0"/>
            </a:br>
            <a:r>
              <a:rPr lang="en-US" sz="1600" dirty="0"/>
              <a:t>Driven by integrity and professionalism, we ensure clean, safe, and productive environments for every organization we serve.</a:t>
            </a:r>
            <a:br>
              <a:rPr lang="en-US" sz="1600" dirty="0"/>
            </a:br>
            <a:r>
              <a:rPr lang="en-US" sz="1600" dirty="0"/>
              <a:t>Our operations span multiple industries across India, helping businesses achieve higher standards of efficiency and satisfaction.</a:t>
            </a:r>
            <a:endParaRPr lang="en-US" sz="1550" dirty="0"/>
          </a:p>
        </p:txBody>
      </p:sp>
      <p:pic>
        <p:nvPicPr>
          <p:cNvPr id="6" name="Picture 5">
            <a:extLst>
              <a:ext uri="{FF2B5EF4-FFF2-40B4-BE49-F238E27FC236}">
                <a16:creationId xmlns:a16="http://schemas.microsoft.com/office/drawing/2014/main" id="{7494F1AF-9866-E9E6-9C0D-E40ADD1B4018}"/>
              </a:ext>
            </a:extLst>
          </p:cNvPr>
          <p:cNvPicPr>
            <a:picLocks noChangeAspect="1"/>
          </p:cNvPicPr>
          <p:nvPr/>
        </p:nvPicPr>
        <p:blipFill>
          <a:blip r:embed="rId4"/>
          <a:stretch>
            <a:fillRect/>
          </a:stretch>
        </p:blipFill>
        <p:spPr>
          <a:xfrm>
            <a:off x="8452624" y="-17502"/>
            <a:ext cx="6177776"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505188"/>
            <a:ext cx="12993291" cy="620078"/>
          </a:xfrm>
          <a:prstGeom prst="rect">
            <a:avLst/>
          </a:prstGeom>
          <a:noFill/>
          <a:ln/>
        </p:spPr>
        <p:txBody>
          <a:bodyPr wrap="none" lIns="0" tIns="0" rIns="0" bIns="0" rtlCol="0" anchor="t"/>
          <a:lstStyle/>
          <a:p>
            <a:pPr marL="0" indent="0" algn="l">
              <a:lnSpc>
                <a:spcPts val="4850"/>
              </a:lnSpc>
              <a:buNone/>
            </a:pPr>
            <a:r>
              <a:rPr lang="en-US" sz="3900" dirty="0">
                <a:solidFill>
                  <a:srgbClr val="4B6981"/>
                </a:solidFill>
                <a:latin typeface="Playfair Display Semi Bold" pitchFamily="34" charset="0"/>
                <a:ea typeface="Playfair Display Semi Bold" pitchFamily="34" charset="-122"/>
                <a:cs typeface="Playfair Display Semi Bold" pitchFamily="34" charset="-120"/>
              </a:rPr>
              <a:t>Elevating Workplace Standards Through Expert Solutions</a:t>
            </a:r>
            <a:endParaRPr lang="en-US" sz="3900" dirty="0"/>
          </a:p>
        </p:txBody>
      </p:sp>
      <p:sp>
        <p:nvSpPr>
          <p:cNvPr id="3" name="Text 1"/>
          <p:cNvSpPr/>
          <p:nvPr/>
        </p:nvSpPr>
        <p:spPr>
          <a:xfrm>
            <a:off x="793790" y="2621280"/>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4B6981"/>
                </a:solidFill>
                <a:latin typeface="Playfair Display Semi Bold" pitchFamily="34" charset="0"/>
                <a:ea typeface="Playfair Display Semi Bold" pitchFamily="34" charset="-122"/>
                <a:cs typeface="Playfair Display Semi Bold" pitchFamily="34" charset="-120"/>
              </a:rPr>
              <a:t>Who We Are</a:t>
            </a:r>
            <a:endParaRPr lang="en-US" sz="2300" dirty="0"/>
          </a:p>
        </p:txBody>
      </p:sp>
      <p:sp>
        <p:nvSpPr>
          <p:cNvPr id="4" name="Text 2"/>
          <p:cNvSpPr/>
          <p:nvPr/>
        </p:nvSpPr>
        <p:spPr>
          <a:xfrm>
            <a:off x="793790" y="3191708"/>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UK Facility Management Services is a professionally managed organisation providing comprehensive facility management and support solutions across diverse industries. We are dedicated to enhancing workplace standards through our expertise, efficiency, and unwavering commitment to integrity and excellence.</a:t>
            </a:r>
            <a:endParaRPr lang="en-US" sz="1550" dirty="0"/>
          </a:p>
        </p:txBody>
      </p:sp>
      <p:sp>
        <p:nvSpPr>
          <p:cNvPr id="5" name="Text 3"/>
          <p:cNvSpPr/>
          <p:nvPr/>
        </p:nvSpPr>
        <p:spPr>
          <a:xfrm>
            <a:off x="793790" y="4958001"/>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With a focus on delivering superior quality and operational consistency, we offer a full spectrum of facility services designed to create clean, safe, and productive environments. Our team of well-trained professionals ensures that every service is executed with precision, reliability, and a client-first mindset.</a:t>
            </a:r>
            <a:endParaRPr lang="en-US" sz="1550" dirty="0"/>
          </a:p>
        </p:txBody>
      </p:sp>
      <p:sp>
        <p:nvSpPr>
          <p:cNvPr id="6" name="Text 4"/>
          <p:cNvSpPr/>
          <p:nvPr/>
        </p:nvSpPr>
        <p:spPr>
          <a:xfrm>
            <a:off x="7564874" y="2621280"/>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4B6981"/>
                </a:solidFill>
                <a:latin typeface="Playfair Display Semi Bold" pitchFamily="34" charset="0"/>
                <a:ea typeface="Playfair Display Semi Bold" pitchFamily="34" charset="-122"/>
                <a:cs typeface="Playfair Display Semi Bold" pitchFamily="34" charset="-120"/>
              </a:rPr>
              <a:t>Our Purpose</a:t>
            </a:r>
            <a:endParaRPr lang="en-US" sz="2300" dirty="0"/>
          </a:p>
        </p:txBody>
      </p:sp>
      <p:sp>
        <p:nvSpPr>
          <p:cNvPr id="7" name="Text 5"/>
          <p:cNvSpPr/>
          <p:nvPr/>
        </p:nvSpPr>
        <p:spPr>
          <a:xfrm>
            <a:off x="7564874" y="3191708"/>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At UK Facility Management Services, we don't just maintain spaces—we help businesses build an environment that reflects professionalism, productivity, and pride. Every service we deliver is designed to support your operational goals whilst creating a workplace that your employees and visitors will appreciate.</a:t>
            </a:r>
            <a:endParaRPr lang="en-US" sz="1550" dirty="0"/>
          </a:p>
        </p:txBody>
      </p:sp>
      <p:sp>
        <p:nvSpPr>
          <p:cNvPr id="8" name="Text 6"/>
          <p:cNvSpPr/>
          <p:nvPr/>
        </p:nvSpPr>
        <p:spPr>
          <a:xfrm>
            <a:off x="7564874" y="4958001"/>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Our approach combines industry best practises with innovative solutions, ensuring that your facility operates at peak efficiency whilst maintaining the highest standards of cleanliness, safety, and presentation.</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24620"/>
            <a:ext cx="7444026" cy="620078"/>
          </a:xfrm>
          <a:prstGeom prst="rect">
            <a:avLst/>
          </a:prstGeom>
          <a:noFill/>
          <a:ln/>
        </p:spPr>
        <p:txBody>
          <a:bodyPr wrap="none" lIns="0" tIns="0" rIns="0" bIns="0" rtlCol="0" anchor="t"/>
          <a:lstStyle/>
          <a:p>
            <a:pPr marL="0" indent="0" algn="l">
              <a:lnSpc>
                <a:spcPts val="4850"/>
              </a:lnSpc>
              <a:buNone/>
            </a:pPr>
            <a:r>
              <a:rPr lang="en-US" sz="3900" dirty="0">
                <a:solidFill>
                  <a:srgbClr val="4B6981"/>
                </a:solidFill>
                <a:latin typeface="Playfair Display Semi Bold" pitchFamily="34" charset="0"/>
                <a:ea typeface="Playfair Display Semi Bold" pitchFamily="34" charset="-122"/>
                <a:cs typeface="Playfair Display Semi Bold" pitchFamily="34" charset="-120"/>
              </a:rPr>
              <a:t>Comprehensive Service Portfolio</a:t>
            </a:r>
            <a:endParaRPr lang="en-US" sz="3900" dirty="0"/>
          </a:p>
        </p:txBody>
      </p:sp>
      <p:sp>
        <p:nvSpPr>
          <p:cNvPr id="3" name="Text 1"/>
          <p:cNvSpPr/>
          <p:nvPr/>
        </p:nvSpPr>
        <p:spPr>
          <a:xfrm>
            <a:off x="793790" y="274153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We deliver a complete range of facility management solutions tailored to meet the unique needs of modern businesses. Our services are designed to enhance operational efficiency, maintain exceptional standards, and create environments where people thrive.</a:t>
            </a:r>
            <a:endParaRPr lang="en-US" sz="1550" dirty="0"/>
          </a:p>
        </p:txBody>
      </p:sp>
      <p:sp>
        <p:nvSpPr>
          <p:cNvPr id="4" name="Shape 2"/>
          <p:cNvSpPr/>
          <p:nvPr/>
        </p:nvSpPr>
        <p:spPr>
          <a:xfrm>
            <a:off x="793790" y="3599855"/>
            <a:ext cx="4215289" cy="2905006"/>
          </a:xfrm>
          <a:prstGeom prst="roundRect">
            <a:avLst>
              <a:gd name="adj" fmla="val 2870"/>
            </a:avLst>
          </a:prstGeom>
          <a:solidFill>
            <a:srgbClr val="F0DEDC"/>
          </a:solidFill>
          <a:ln w="7620">
            <a:solidFill>
              <a:srgbClr val="E1C2C2"/>
            </a:solidFill>
            <a:prstDash val="solid"/>
          </a:ln>
          <a:effectLst>
            <a:outerShdw dist="17780" dir="2700000" algn="bl" rotWithShape="0">
              <a:srgbClr val="E1C2C2">
                <a:alpha val="100000"/>
              </a:srgbClr>
            </a:outerShdw>
          </a:effectLst>
        </p:spPr>
      </p:sp>
      <p:sp>
        <p:nvSpPr>
          <p:cNvPr id="5" name="Shape 3"/>
          <p:cNvSpPr/>
          <p:nvPr/>
        </p:nvSpPr>
        <p:spPr>
          <a:xfrm>
            <a:off x="999768" y="3805833"/>
            <a:ext cx="595313" cy="595313"/>
          </a:xfrm>
          <a:prstGeom prst="roundRect">
            <a:avLst>
              <a:gd name="adj" fmla="val 15358451"/>
            </a:avLst>
          </a:prstGeom>
          <a:solidFill>
            <a:srgbClr val="E1C2C2"/>
          </a:solidFill>
          <a:ln/>
        </p:spPr>
      </p:sp>
      <p:pic>
        <p:nvPicPr>
          <p:cNvPr id="6" name="Image 0" descr="preencoded.png"/>
          <p:cNvPicPr>
            <a:picLocks noChangeAspect="1"/>
          </p:cNvPicPr>
          <p:nvPr/>
        </p:nvPicPr>
        <p:blipFill>
          <a:blip r:embed="rId3"/>
          <a:stretch>
            <a:fillRect/>
          </a:stretch>
        </p:blipFill>
        <p:spPr>
          <a:xfrm>
            <a:off x="1163479" y="3935968"/>
            <a:ext cx="267891" cy="334923"/>
          </a:xfrm>
          <a:prstGeom prst="rect">
            <a:avLst/>
          </a:prstGeom>
        </p:spPr>
      </p:pic>
      <p:sp>
        <p:nvSpPr>
          <p:cNvPr id="7" name="Text 4"/>
          <p:cNvSpPr/>
          <p:nvPr/>
        </p:nvSpPr>
        <p:spPr>
          <a:xfrm>
            <a:off x="999768" y="4599503"/>
            <a:ext cx="3410426"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layfair Display Semi Bold" pitchFamily="34" charset="0"/>
                <a:ea typeface="Playfair Display Semi Bold" pitchFamily="34" charset="-122"/>
                <a:cs typeface="Playfair Display Semi Bold" pitchFamily="34" charset="-120"/>
              </a:rPr>
              <a:t>Housekeeping &amp; Maintenance</a:t>
            </a:r>
            <a:endParaRPr lang="en-US" sz="1950" dirty="0"/>
          </a:p>
        </p:txBody>
      </p:sp>
      <p:sp>
        <p:nvSpPr>
          <p:cNvPr id="8" name="Text 5"/>
          <p:cNvSpPr/>
          <p:nvPr/>
        </p:nvSpPr>
        <p:spPr>
          <a:xfrm>
            <a:off x="999768" y="5028724"/>
            <a:ext cx="3803333"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Public Sans" pitchFamily="34" charset="0"/>
                <a:ea typeface="Public Sans" pitchFamily="34" charset="-122"/>
                <a:cs typeface="Public Sans" pitchFamily="34" charset="-120"/>
              </a:rPr>
              <a:t>Systematic and result-oriented housekeeping solutions that uphold hygiene, order, and efficiency across all premises.</a:t>
            </a:r>
            <a:endParaRPr lang="en-US" sz="1550" dirty="0"/>
          </a:p>
        </p:txBody>
      </p:sp>
      <p:sp>
        <p:nvSpPr>
          <p:cNvPr id="9" name="Shape 6"/>
          <p:cNvSpPr/>
          <p:nvPr/>
        </p:nvSpPr>
        <p:spPr>
          <a:xfrm>
            <a:off x="5207437" y="3599855"/>
            <a:ext cx="4215408" cy="2905006"/>
          </a:xfrm>
          <a:prstGeom prst="roundRect">
            <a:avLst>
              <a:gd name="adj" fmla="val 2870"/>
            </a:avLst>
          </a:prstGeom>
          <a:solidFill>
            <a:srgbClr val="F0DEDC"/>
          </a:solidFill>
          <a:ln w="7620">
            <a:solidFill>
              <a:srgbClr val="CCC4EC"/>
            </a:solidFill>
            <a:prstDash val="solid"/>
          </a:ln>
          <a:effectLst>
            <a:outerShdw dist="17780" dir="2700000" algn="bl" rotWithShape="0">
              <a:srgbClr val="CCC4EC">
                <a:alpha val="100000"/>
              </a:srgbClr>
            </a:outerShdw>
          </a:effectLst>
        </p:spPr>
      </p:sp>
      <p:sp>
        <p:nvSpPr>
          <p:cNvPr id="10" name="Shape 7"/>
          <p:cNvSpPr/>
          <p:nvPr/>
        </p:nvSpPr>
        <p:spPr>
          <a:xfrm>
            <a:off x="5413415" y="3805833"/>
            <a:ext cx="595313" cy="595313"/>
          </a:xfrm>
          <a:prstGeom prst="roundRect">
            <a:avLst>
              <a:gd name="adj" fmla="val 15358451"/>
            </a:avLst>
          </a:prstGeom>
          <a:solidFill>
            <a:srgbClr val="CCC4EC"/>
          </a:solidFill>
          <a:ln/>
        </p:spPr>
      </p:sp>
      <p:pic>
        <p:nvPicPr>
          <p:cNvPr id="11" name="Image 1" descr="preencoded.png"/>
          <p:cNvPicPr>
            <a:picLocks noChangeAspect="1"/>
          </p:cNvPicPr>
          <p:nvPr/>
        </p:nvPicPr>
        <p:blipFill>
          <a:blip r:embed="rId4"/>
          <a:stretch>
            <a:fillRect/>
          </a:stretch>
        </p:blipFill>
        <p:spPr>
          <a:xfrm>
            <a:off x="5577126" y="3935968"/>
            <a:ext cx="267891" cy="334923"/>
          </a:xfrm>
          <a:prstGeom prst="rect">
            <a:avLst/>
          </a:prstGeom>
        </p:spPr>
      </p:pic>
      <p:sp>
        <p:nvSpPr>
          <p:cNvPr id="12" name="Text 8"/>
          <p:cNvSpPr/>
          <p:nvPr/>
        </p:nvSpPr>
        <p:spPr>
          <a:xfrm>
            <a:off x="5413415" y="4599503"/>
            <a:ext cx="3342203"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layfair Display Semi Bold" pitchFamily="34" charset="0"/>
                <a:ea typeface="Playfair Display Semi Bold" pitchFamily="34" charset="-122"/>
                <a:cs typeface="Playfair Display Semi Bold" pitchFamily="34" charset="-120"/>
              </a:rPr>
              <a:t>Deep Cleaning &amp; Sanitisation</a:t>
            </a:r>
            <a:endParaRPr lang="en-US" sz="1950" dirty="0"/>
          </a:p>
        </p:txBody>
      </p:sp>
      <p:sp>
        <p:nvSpPr>
          <p:cNvPr id="13" name="Text 9"/>
          <p:cNvSpPr/>
          <p:nvPr/>
        </p:nvSpPr>
        <p:spPr>
          <a:xfrm>
            <a:off x="5413415" y="5028724"/>
            <a:ext cx="3803452"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Public Sans" pitchFamily="34" charset="0"/>
                <a:ea typeface="Public Sans" pitchFamily="34" charset="-122"/>
                <a:cs typeface="Public Sans" pitchFamily="34" charset="-120"/>
              </a:rPr>
              <a:t>Comprehensive cleaning powered by modern equipment and eco-friendly materials promoting health and sustainability.</a:t>
            </a:r>
            <a:endParaRPr lang="en-US" sz="1550" dirty="0"/>
          </a:p>
        </p:txBody>
      </p:sp>
      <p:sp>
        <p:nvSpPr>
          <p:cNvPr id="14" name="Shape 10"/>
          <p:cNvSpPr/>
          <p:nvPr/>
        </p:nvSpPr>
        <p:spPr>
          <a:xfrm>
            <a:off x="9621203" y="3599855"/>
            <a:ext cx="4215289" cy="2905006"/>
          </a:xfrm>
          <a:prstGeom prst="roundRect">
            <a:avLst>
              <a:gd name="adj" fmla="val 2870"/>
            </a:avLst>
          </a:prstGeom>
          <a:solidFill>
            <a:srgbClr val="F0DEDC"/>
          </a:solidFill>
          <a:ln w="7620">
            <a:solidFill>
              <a:srgbClr val="B4DAE4"/>
            </a:solidFill>
            <a:prstDash val="solid"/>
          </a:ln>
          <a:effectLst>
            <a:outerShdw dist="17780" dir="2700000" algn="bl" rotWithShape="0">
              <a:srgbClr val="B4DAE4">
                <a:alpha val="100000"/>
              </a:srgbClr>
            </a:outerShdw>
          </a:effectLst>
        </p:spPr>
      </p:sp>
      <p:sp>
        <p:nvSpPr>
          <p:cNvPr id="15" name="Shape 11"/>
          <p:cNvSpPr/>
          <p:nvPr/>
        </p:nvSpPr>
        <p:spPr>
          <a:xfrm>
            <a:off x="9827181" y="3805833"/>
            <a:ext cx="595313" cy="595313"/>
          </a:xfrm>
          <a:prstGeom prst="roundRect">
            <a:avLst>
              <a:gd name="adj" fmla="val 15358451"/>
            </a:avLst>
          </a:prstGeom>
          <a:solidFill>
            <a:srgbClr val="B4DAE4"/>
          </a:solidFill>
          <a:ln/>
        </p:spPr>
      </p:sp>
      <p:pic>
        <p:nvPicPr>
          <p:cNvPr id="16" name="Image 2" descr="preencoded.png"/>
          <p:cNvPicPr>
            <a:picLocks noChangeAspect="1"/>
          </p:cNvPicPr>
          <p:nvPr/>
        </p:nvPicPr>
        <p:blipFill>
          <a:blip r:embed="rId5"/>
          <a:stretch>
            <a:fillRect/>
          </a:stretch>
        </p:blipFill>
        <p:spPr>
          <a:xfrm>
            <a:off x="9990892" y="3935968"/>
            <a:ext cx="267891" cy="334923"/>
          </a:xfrm>
          <a:prstGeom prst="rect">
            <a:avLst/>
          </a:prstGeom>
        </p:spPr>
      </p:pic>
      <p:sp>
        <p:nvSpPr>
          <p:cNvPr id="17" name="Text 12"/>
          <p:cNvSpPr/>
          <p:nvPr/>
        </p:nvSpPr>
        <p:spPr>
          <a:xfrm>
            <a:off x="9827181" y="4599503"/>
            <a:ext cx="2610326"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layfair Display Semi Bold" pitchFamily="34" charset="0"/>
                <a:ea typeface="Playfair Display Semi Bold" pitchFamily="34" charset="-122"/>
                <a:cs typeface="Playfair Display Semi Bold" pitchFamily="34" charset="-120"/>
              </a:rPr>
              <a:t>Office Support Staffing</a:t>
            </a:r>
            <a:endParaRPr lang="en-US" sz="1950" dirty="0"/>
          </a:p>
        </p:txBody>
      </p:sp>
      <p:sp>
        <p:nvSpPr>
          <p:cNvPr id="18" name="Text 13"/>
          <p:cNvSpPr/>
          <p:nvPr/>
        </p:nvSpPr>
        <p:spPr>
          <a:xfrm>
            <a:off x="9827181" y="5028724"/>
            <a:ext cx="3803333"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Public Sans" pitchFamily="34" charset="0"/>
                <a:ea typeface="Public Sans" pitchFamily="34" charset="-122"/>
                <a:cs typeface="Public Sans" pitchFamily="34" charset="-120"/>
              </a:rPr>
              <a:t>Deployment of skilled and courteous support personnel ensuring smooth daily operations and professional conduct.</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7279780" y="-160954"/>
            <a:ext cx="6814778" cy="4441191"/>
          </a:xfrm>
          <a:prstGeom prst="rect">
            <a:avLst/>
          </a:prstGeom>
        </p:spPr>
      </p:pic>
      <p:sp>
        <p:nvSpPr>
          <p:cNvPr id="3" name="Text 0"/>
          <p:cNvSpPr/>
          <p:nvPr/>
        </p:nvSpPr>
        <p:spPr>
          <a:xfrm>
            <a:off x="768906" y="3083838"/>
            <a:ext cx="7967305" cy="600789"/>
          </a:xfrm>
          <a:prstGeom prst="rect">
            <a:avLst/>
          </a:prstGeom>
          <a:noFill/>
          <a:ln/>
        </p:spPr>
        <p:txBody>
          <a:bodyPr wrap="none" lIns="0" tIns="0" rIns="0" bIns="0" rtlCol="0" anchor="t"/>
          <a:lstStyle/>
          <a:p>
            <a:pPr marL="0" indent="0" algn="l">
              <a:lnSpc>
                <a:spcPts val="4700"/>
              </a:lnSpc>
              <a:buNone/>
            </a:pPr>
            <a:r>
              <a:rPr lang="en-US" sz="3750" dirty="0">
                <a:solidFill>
                  <a:srgbClr val="4B6981"/>
                </a:solidFill>
                <a:latin typeface="Playfair Display Semi Bold" pitchFamily="34" charset="0"/>
                <a:ea typeface="Playfair Display Semi Bold" pitchFamily="34" charset="-122"/>
                <a:cs typeface="Playfair Display Semi Bold" pitchFamily="34" charset="-120"/>
              </a:rPr>
              <a:t>Specialised Solutions for Every Need</a:t>
            </a:r>
            <a:endParaRPr lang="en-US" sz="3750" dirty="0"/>
          </a:p>
        </p:txBody>
      </p:sp>
      <p:sp>
        <p:nvSpPr>
          <p:cNvPr id="4" name="Shape 1"/>
          <p:cNvSpPr/>
          <p:nvPr/>
        </p:nvSpPr>
        <p:spPr>
          <a:xfrm>
            <a:off x="768906" y="3972878"/>
            <a:ext cx="4236006" cy="3575804"/>
          </a:xfrm>
          <a:prstGeom prst="roundRect">
            <a:avLst>
              <a:gd name="adj" fmla="val 2258"/>
            </a:avLst>
          </a:prstGeom>
          <a:solidFill>
            <a:srgbClr val="FFFAF6"/>
          </a:solidFill>
          <a:ln w="22860">
            <a:solidFill>
              <a:srgbClr val="E1C2C2"/>
            </a:solidFill>
            <a:prstDash val="solid"/>
          </a:ln>
          <a:effectLst>
            <a:outerShdw dist="17780" dir="2700000" algn="bl" rotWithShape="0">
              <a:srgbClr val="E1C2C2">
                <a:alpha val="100000"/>
              </a:srgbClr>
            </a:outerShdw>
          </a:effectLst>
        </p:spPr>
      </p:sp>
      <p:sp>
        <p:nvSpPr>
          <p:cNvPr id="5" name="Shape 2"/>
          <p:cNvSpPr/>
          <p:nvPr/>
        </p:nvSpPr>
        <p:spPr>
          <a:xfrm>
            <a:off x="791766" y="3995738"/>
            <a:ext cx="4190286" cy="576620"/>
          </a:xfrm>
          <a:prstGeom prst="roundRect">
            <a:avLst>
              <a:gd name="adj" fmla="val 9245"/>
            </a:avLst>
          </a:prstGeom>
          <a:solidFill>
            <a:srgbClr val="E1C2C2">
              <a:alpha val="50000"/>
            </a:srgbClr>
          </a:solidFill>
          <a:ln/>
          <a:effectLst>
            <a:outerShdw dist="17780" dir="2700000" algn="bl" rotWithShape="0">
              <a:srgbClr val="C7A8A8">
                <a:alpha val="100000"/>
              </a:srgbClr>
            </a:outerShdw>
          </a:effectLst>
        </p:spPr>
      </p:sp>
      <p:pic>
        <p:nvPicPr>
          <p:cNvPr id="6" name="Image 1" descr="preencoded.png"/>
          <p:cNvPicPr>
            <a:picLocks noChangeAspect="1"/>
          </p:cNvPicPr>
          <p:nvPr/>
        </p:nvPicPr>
        <p:blipFill>
          <a:blip r:embed="rId4"/>
          <a:stretch>
            <a:fillRect/>
          </a:stretch>
        </p:blipFill>
        <p:spPr>
          <a:xfrm>
            <a:off x="2742724" y="4100036"/>
            <a:ext cx="288250" cy="360402"/>
          </a:xfrm>
          <a:prstGeom prst="rect">
            <a:avLst/>
          </a:prstGeom>
        </p:spPr>
      </p:pic>
      <p:sp>
        <p:nvSpPr>
          <p:cNvPr id="7" name="Text 3"/>
          <p:cNvSpPr/>
          <p:nvPr/>
        </p:nvSpPr>
        <p:spPr>
          <a:xfrm>
            <a:off x="983933" y="4764524"/>
            <a:ext cx="3732728" cy="300276"/>
          </a:xfrm>
          <a:prstGeom prst="rect">
            <a:avLst/>
          </a:prstGeom>
          <a:noFill/>
          <a:ln/>
        </p:spPr>
        <p:txBody>
          <a:bodyPr wrap="none" lIns="0" tIns="0" rIns="0" bIns="0" rtlCol="0" anchor="t"/>
          <a:lstStyle/>
          <a:p>
            <a:pPr marL="0" indent="0" algn="l">
              <a:lnSpc>
                <a:spcPts val="2350"/>
              </a:lnSpc>
              <a:buNone/>
            </a:pPr>
            <a:r>
              <a:rPr lang="en-US" sz="1850" dirty="0">
                <a:solidFill>
                  <a:srgbClr val="6F655D"/>
                </a:solidFill>
                <a:latin typeface="Playfair Display Semi Bold" pitchFamily="34" charset="0"/>
                <a:ea typeface="Playfair Display Semi Bold" pitchFamily="34" charset="-122"/>
                <a:cs typeface="Playfair Display Semi Bold" pitchFamily="34" charset="-120"/>
              </a:rPr>
              <a:t>Pantry &amp; Hospitality Management</a:t>
            </a:r>
            <a:endParaRPr lang="en-US" sz="1850" dirty="0"/>
          </a:p>
        </p:txBody>
      </p:sp>
      <p:sp>
        <p:nvSpPr>
          <p:cNvPr id="8" name="Text 4"/>
          <p:cNvSpPr/>
          <p:nvPr/>
        </p:nvSpPr>
        <p:spPr>
          <a:xfrm>
            <a:off x="983933" y="5180052"/>
            <a:ext cx="3805952" cy="2153603"/>
          </a:xfrm>
          <a:prstGeom prst="rect">
            <a:avLst/>
          </a:prstGeom>
          <a:noFill/>
          <a:ln/>
        </p:spPr>
        <p:txBody>
          <a:bodyPr wrap="square" lIns="0" tIns="0" rIns="0" bIns="0" rtlCol="0" anchor="t"/>
          <a:lstStyle/>
          <a:p>
            <a:pPr marL="0" indent="0" algn="l">
              <a:lnSpc>
                <a:spcPts val="2400"/>
              </a:lnSpc>
              <a:buNone/>
            </a:pPr>
            <a:r>
              <a:rPr lang="en-US" sz="1500" dirty="0">
                <a:solidFill>
                  <a:srgbClr val="6F655D"/>
                </a:solidFill>
                <a:latin typeface="Public Sans" pitchFamily="34" charset="0"/>
                <a:ea typeface="Public Sans" pitchFamily="34" charset="-122"/>
                <a:cs typeface="Public Sans" pitchFamily="34" charset="-120"/>
              </a:rPr>
              <a:t>Efficient management of pantry and hospitality services to ensure comfort, courtesy, and seamless service delivery for both employees and guests. Our trained staff understand the importance of creating welcoming spaces that enhance workplace satisfaction.</a:t>
            </a:r>
            <a:endParaRPr lang="en-US" sz="1500" dirty="0"/>
          </a:p>
        </p:txBody>
      </p:sp>
      <p:sp>
        <p:nvSpPr>
          <p:cNvPr id="9" name="Shape 5"/>
          <p:cNvSpPr/>
          <p:nvPr/>
        </p:nvSpPr>
        <p:spPr>
          <a:xfrm>
            <a:off x="5197078" y="3972878"/>
            <a:ext cx="4236125" cy="3575804"/>
          </a:xfrm>
          <a:prstGeom prst="roundRect">
            <a:avLst>
              <a:gd name="adj" fmla="val 2258"/>
            </a:avLst>
          </a:prstGeom>
          <a:solidFill>
            <a:srgbClr val="FFFAF6"/>
          </a:solidFill>
          <a:ln w="22860">
            <a:solidFill>
              <a:srgbClr val="CCC4EC"/>
            </a:solidFill>
            <a:prstDash val="solid"/>
          </a:ln>
          <a:effectLst>
            <a:outerShdw dist="17780" dir="2700000" algn="bl" rotWithShape="0">
              <a:srgbClr val="CCC4EC">
                <a:alpha val="100000"/>
              </a:srgbClr>
            </a:outerShdw>
          </a:effectLst>
        </p:spPr>
      </p:sp>
      <p:sp>
        <p:nvSpPr>
          <p:cNvPr id="10" name="Shape 6"/>
          <p:cNvSpPr/>
          <p:nvPr/>
        </p:nvSpPr>
        <p:spPr>
          <a:xfrm>
            <a:off x="5219938" y="3995738"/>
            <a:ext cx="4190405" cy="576620"/>
          </a:xfrm>
          <a:prstGeom prst="roundRect">
            <a:avLst>
              <a:gd name="adj" fmla="val 9245"/>
            </a:avLst>
          </a:prstGeom>
          <a:solidFill>
            <a:srgbClr val="CCC4EC">
              <a:alpha val="50000"/>
            </a:srgbClr>
          </a:solidFill>
          <a:ln/>
          <a:effectLst>
            <a:outerShdw dist="17780" dir="2700000" algn="bl" rotWithShape="0">
              <a:srgbClr val="B2AAD2">
                <a:alpha val="100000"/>
              </a:srgbClr>
            </a:outerShdw>
          </a:effectLst>
        </p:spPr>
      </p:sp>
      <p:pic>
        <p:nvPicPr>
          <p:cNvPr id="11" name="Image 2" descr="preencoded.png"/>
          <p:cNvPicPr>
            <a:picLocks noChangeAspect="1"/>
          </p:cNvPicPr>
          <p:nvPr/>
        </p:nvPicPr>
        <p:blipFill>
          <a:blip r:embed="rId5"/>
          <a:stretch>
            <a:fillRect/>
          </a:stretch>
        </p:blipFill>
        <p:spPr>
          <a:xfrm>
            <a:off x="7171015" y="4100036"/>
            <a:ext cx="288250" cy="360402"/>
          </a:xfrm>
          <a:prstGeom prst="rect">
            <a:avLst/>
          </a:prstGeom>
        </p:spPr>
      </p:pic>
      <p:sp>
        <p:nvSpPr>
          <p:cNvPr id="12" name="Text 7"/>
          <p:cNvSpPr/>
          <p:nvPr/>
        </p:nvSpPr>
        <p:spPr>
          <a:xfrm>
            <a:off x="5412105" y="4764524"/>
            <a:ext cx="3360658" cy="300276"/>
          </a:xfrm>
          <a:prstGeom prst="rect">
            <a:avLst/>
          </a:prstGeom>
          <a:noFill/>
          <a:ln/>
        </p:spPr>
        <p:txBody>
          <a:bodyPr wrap="none" lIns="0" tIns="0" rIns="0" bIns="0" rtlCol="0" anchor="t"/>
          <a:lstStyle/>
          <a:p>
            <a:pPr marL="0" indent="0" algn="l">
              <a:lnSpc>
                <a:spcPts val="2350"/>
              </a:lnSpc>
              <a:buNone/>
            </a:pPr>
            <a:r>
              <a:rPr lang="en-US" sz="1850" dirty="0">
                <a:solidFill>
                  <a:srgbClr val="6F655D"/>
                </a:solidFill>
                <a:latin typeface="Playfair Display Semi Bold" pitchFamily="34" charset="0"/>
                <a:ea typeface="Playfair Display Semi Bold" pitchFamily="34" charset="-122"/>
                <a:cs typeface="Playfair Display Semi Bold" pitchFamily="34" charset="-120"/>
              </a:rPr>
              <a:t>Specialised Cleaning Solutions</a:t>
            </a:r>
            <a:endParaRPr lang="en-US" sz="1850" dirty="0"/>
          </a:p>
        </p:txBody>
      </p:sp>
      <p:sp>
        <p:nvSpPr>
          <p:cNvPr id="13" name="Text 8"/>
          <p:cNvSpPr/>
          <p:nvPr/>
        </p:nvSpPr>
        <p:spPr>
          <a:xfrm>
            <a:off x="5412105" y="5180052"/>
            <a:ext cx="3806071" cy="2153603"/>
          </a:xfrm>
          <a:prstGeom prst="rect">
            <a:avLst/>
          </a:prstGeom>
          <a:noFill/>
          <a:ln/>
        </p:spPr>
        <p:txBody>
          <a:bodyPr wrap="square" lIns="0" tIns="0" rIns="0" bIns="0" rtlCol="0" anchor="t"/>
          <a:lstStyle/>
          <a:p>
            <a:pPr marL="0" indent="0" algn="l">
              <a:lnSpc>
                <a:spcPts val="2400"/>
              </a:lnSpc>
              <a:buNone/>
            </a:pPr>
            <a:r>
              <a:rPr lang="en-US" sz="1500" dirty="0">
                <a:solidFill>
                  <a:srgbClr val="6F655D"/>
                </a:solidFill>
                <a:latin typeface="Public Sans" pitchFamily="34" charset="0"/>
                <a:ea typeface="Public Sans" pitchFamily="34" charset="-122"/>
                <a:cs typeface="Public Sans" pitchFamily="34" charset="-120"/>
              </a:rPr>
              <a:t>Targeted cleaning for workstations, glass panels, restrooms, and high-contact areas using safe, high-performance cleaning agents and standardised methods. We employ the latest techniques to ensure thorough sanitisation whilst minimising disruption to your operations.</a:t>
            </a:r>
            <a:endParaRPr lang="en-US" sz="1500" dirty="0"/>
          </a:p>
        </p:txBody>
      </p:sp>
      <p:sp>
        <p:nvSpPr>
          <p:cNvPr id="14" name="Shape 9"/>
          <p:cNvSpPr/>
          <p:nvPr/>
        </p:nvSpPr>
        <p:spPr>
          <a:xfrm>
            <a:off x="9625370" y="3972878"/>
            <a:ext cx="4236125" cy="3575804"/>
          </a:xfrm>
          <a:prstGeom prst="roundRect">
            <a:avLst>
              <a:gd name="adj" fmla="val 2258"/>
            </a:avLst>
          </a:prstGeom>
          <a:solidFill>
            <a:srgbClr val="FFFAF6"/>
          </a:solidFill>
          <a:ln w="22860">
            <a:solidFill>
              <a:srgbClr val="B4DAE4"/>
            </a:solidFill>
            <a:prstDash val="solid"/>
          </a:ln>
          <a:effectLst>
            <a:outerShdw dist="17780" dir="2700000" algn="bl" rotWithShape="0">
              <a:srgbClr val="B4DAE4">
                <a:alpha val="100000"/>
              </a:srgbClr>
            </a:outerShdw>
          </a:effectLst>
        </p:spPr>
      </p:sp>
      <p:sp>
        <p:nvSpPr>
          <p:cNvPr id="15" name="Shape 10"/>
          <p:cNvSpPr/>
          <p:nvPr/>
        </p:nvSpPr>
        <p:spPr>
          <a:xfrm>
            <a:off x="9648230" y="3995738"/>
            <a:ext cx="4190405" cy="576620"/>
          </a:xfrm>
          <a:prstGeom prst="roundRect">
            <a:avLst>
              <a:gd name="adj" fmla="val 9245"/>
            </a:avLst>
          </a:prstGeom>
          <a:solidFill>
            <a:srgbClr val="B4DAE4">
              <a:alpha val="50000"/>
            </a:srgbClr>
          </a:solidFill>
          <a:ln/>
          <a:effectLst>
            <a:outerShdw dist="17780" dir="2700000" algn="bl" rotWithShape="0">
              <a:srgbClr val="9AC0CA">
                <a:alpha val="100000"/>
              </a:srgbClr>
            </a:outerShdw>
          </a:effectLst>
        </p:spPr>
      </p:sp>
      <p:pic>
        <p:nvPicPr>
          <p:cNvPr id="16" name="Image 3" descr="preencoded.png"/>
          <p:cNvPicPr>
            <a:picLocks noChangeAspect="1"/>
          </p:cNvPicPr>
          <p:nvPr/>
        </p:nvPicPr>
        <p:blipFill>
          <a:blip r:embed="rId6"/>
          <a:stretch>
            <a:fillRect/>
          </a:stretch>
        </p:blipFill>
        <p:spPr>
          <a:xfrm>
            <a:off x="11599307" y="4100036"/>
            <a:ext cx="288250" cy="360402"/>
          </a:xfrm>
          <a:prstGeom prst="rect">
            <a:avLst/>
          </a:prstGeom>
        </p:spPr>
      </p:pic>
      <p:sp>
        <p:nvSpPr>
          <p:cNvPr id="17" name="Text 11"/>
          <p:cNvSpPr/>
          <p:nvPr/>
        </p:nvSpPr>
        <p:spPr>
          <a:xfrm>
            <a:off x="9840397" y="4764524"/>
            <a:ext cx="3250287" cy="300276"/>
          </a:xfrm>
          <a:prstGeom prst="rect">
            <a:avLst/>
          </a:prstGeom>
          <a:noFill/>
          <a:ln/>
        </p:spPr>
        <p:txBody>
          <a:bodyPr wrap="none" lIns="0" tIns="0" rIns="0" bIns="0" rtlCol="0" anchor="t"/>
          <a:lstStyle/>
          <a:p>
            <a:pPr marL="0" indent="0" algn="l">
              <a:lnSpc>
                <a:spcPts val="2350"/>
              </a:lnSpc>
              <a:buNone/>
            </a:pPr>
            <a:r>
              <a:rPr lang="en-US" sz="1850" dirty="0">
                <a:solidFill>
                  <a:srgbClr val="6F655D"/>
                </a:solidFill>
                <a:latin typeface="Playfair Display Semi Bold" pitchFamily="34" charset="0"/>
                <a:ea typeface="Playfair Display Semi Bold" pitchFamily="34" charset="-122"/>
                <a:cs typeface="Playfair Display Semi Bold" pitchFamily="34" charset="-120"/>
              </a:rPr>
              <a:t>Customised Facility Solutions</a:t>
            </a:r>
            <a:endParaRPr lang="en-US" sz="1850" dirty="0"/>
          </a:p>
        </p:txBody>
      </p:sp>
      <p:sp>
        <p:nvSpPr>
          <p:cNvPr id="18" name="Text 12"/>
          <p:cNvSpPr/>
          <p:nvPr/>
        </p:nvSpPr>
        <p:spPr>
          <a:xfrm>
            <a:off x="9840397" y="5180052"/>
            <a:ext cx="3806071" cy="2153603"/>
          </a:xfrm>
          <a:prstGeom prst="rect">
            <a:avLst/>
          </a:prstGeom>
          <a:noFill/>
          <a:ln/>
        </p:spPr>
        <p:txBody>
          <a:bodyPr wrap="square" lIns="0" tIns="0" rIns="0" bIns="0" rtlCol="0" anchor="t"/>
          <a:lstStyle/>
          <a:p>
            <a:pPr marL="0" indent="0" algn="l">
              <a:lnSpc>
                <a:spcPts val="2400"/>
              </a:lnSpc>
              <a:buNone/>
            </a:pPr>
            <a:r>
              <a:rPr lang="en-US" sz="1500" dirty="0">
                <a:solidFill>
                  <a:srgbClr val="6F655D"/>
                </a:solidFill>
                <a:latin typeface="Public Sans" pitchFamily="34" charset="0"/>
                <a:ea typeface="Public Sans" pitchFamily="34" charset="-122"/>
                <a:cs typeface="Public Sans" pitchFamily="34" charset="-120"/>
              </a:rPr>
              <a:t>Tailor-made facility management programmes designed to align with each client's operational structure, standards, and budget. We work closely with you to develop solutions that deliver optimum efficiency, cost-effectiveness, and satisfaction across all touchpoints.</a:t>
            </a:r>
            <a:endParaRPr lang="en-US" sz="1500" dirty="0"/>
          </a:p>
        </p:txBody>
      </p:sp>
      <p:pic>
        <p:nvPicPr>
          <p:cNvPr id="20" name="Picture 19">
            <a:extLst>
              <a:ext uri="{FF2B5EF4-FFF2-40B4-BE49-F238E27FC236}">
                <a16:creationId xmlns:a16="http://schemas.microsoft.com/office/drawing/2014/main" id="{81055D6E-A6BB-B1DF-080E-EE80343D13EE}"/>
              </a:ext>
            </a:extLst>
          </p:cNvPr>
          <p:cNvPicPr>
            <a:picLocks noChangeAspect="1"/>
          </p:cNvPicPr>
          <p:nvPr/>
        </p:nvPicPr>
        <p:blipFill>
          <a:blip r:embed="rId7"/>
          <a:srcRect/>
          <a:stretch/>
        </p:blipFill>
        <p:spPr>
          <a:xfrm>
            <a:off x="1186550" y="0"/>
            <a:ext cx="5329526" cy="30893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70811"/>
            <a:ext cx="6393775" cy="620078"/>
          </a:xfrm>
          <a:prstGeom prst="rect">
            <a:avLst/>
          </a:prstGeom>
          <a:noFill/>
          <a:ln/>
        </p:spPr>
        <p:txBody>
          <a:bodyPr wrap="none" lIns="0" tIns="0" rIns="0" bIns="0" rtlCol="0" anchor="t"/>
          <a:lstStyle/>
          <a:p>
            <a:pPr marL="0" indent="0" algn="l">
              <a:lnSpc>
                <a:spcPts val="4850"/>
              </a:lnSpc>
              <a:buNone/>
            </a:pPr>
            <a:r>
              <a:rPr lang="en-US" sz="3900" dirty="0">
                <a:solidFill>
                  <a:srgbClr val="4B6981"/>
                </a:solidFill>
                <a:latin typeface="Playfair Display Semi Bold" pitchFamily="34" charset="0"/>
                <a:ea typeface="Playfair Display Semi Bold" pitchFamily="34" charset="-122"/>
                <a:cs typeface="Playfair Display Semi Bold" pitchFamily="34" charset="-120"/>
              </a:rPr>
              <a:t>Industries We Proudly Serve</a:t>
            </a:r>
            <a:endParaRPr lang="en-US" sz="3900" dirty="0"/>
          </a:p>
        </p:txBody>
      </p:sp>
      <p:sp>
        <p:nvSpPr>
          <p:cNvPr id="3" name="Text 1"/>
          <p:cNvSpPr/>
          <p:nvPr/>
        </p:nvSpPr>
        <p:spPr>
          <a:xfrm>
            <a:off x="793790" y="178772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Our extensive experience spans multiple sectors, each with unique requirements and standards. We understand the specific challenges and expectations of diverse industries, allowing us to deliver targeted solutions that meet and exceed sector-specific benchmarks.</a:t>
            </a:r>
            <a:endParaRPr lang="en-US" sz="1550" dirty="0"/>
          </a:p>
        </p:txBody>
      </p:sp>
      <p:sp>
        <p:nvSpPr>
          <p:cNvPr id="4" name="Text 2"/>
          <p:cNvSpPr/>
          <p:nvPr/>
        </p:nvSpPr>
        <p:spPr>
          <a:xfrm>
            <a:off x="793790" y="2844403"/>
            <a:ext cx="3074670" cy="620316"/>
          </a:xfrm>
          <a:prstGeom prst="rect">
            <a:avLst/>
          </a:prstGeom>
          <a:noFill/>
          <a:ln/>
        </p:spPr>
        <p:txBody>
          <a:bodyPr wrap="square" lIns="0" tIns="0" rIns="0" bIns="0" rtlCol="0" anchor="t"/>
          <a:lstStyle/>
          <a:p>
            <a:pPr marL="0" indent="0" algn="l">
              <a:lnSpc>
                <a:spcPts val="2400"/>
              </a:lnSpc>
              <a:buNone/>
            </a:pPr>
            <a:r>
              <a:rPr lang="en-US" sz="1950" dirty="0">
                <a:solidFill>
                  <a:srgbClr val="6F655D"/>
                </a:solidFill>
                <a:latin typeface="Playfair Display Semi Bold" pitchFamily="34" charset="0"/>
                <a:ea typeface="Playfair Display Semi Bold" pitchFamily="34" charset="-122"/>
                <a:cs typeface="Playfair Display Semi Bold" pitchFamily="34" charset="-120"/>
              </a:rPr>
              <a:t>International &amp; Residential Schools</a:t>
            </a:r>
            <a:endParaRPr lang="en-US" sz="1950" dirty="0"/>
          </a:p>
        </p:txBody>
      </p:sp>
      <p:sp>
        <p:nvSpPr>
          <p:cNvPr id="5" name="Text 3"/>
          <p:cNvSpPr/>
          <p:nvPr/>
        </p:nvSpPr>
        <p:spPr>
          <a:xfrm>
            <a:off x="793790" y="3583781"/>
            <a:ext cx="3074670" cy="127015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Creating safe, hygienic learning environments that support educational excellence and student wellbeing.</a:t>
            </a:r>
            <a:endParaRPr lang="en-US" sz="1550" dirty="0"/>
          </a:p>
        </p:txBody>
      </p:sp>
      <p:sp>
        <p:nvSpPr>
          <p:cNvPr id="6" name="Text 4"/>
          <p:cNvSpPr/>
          <p:nvPr/>
        </p:nvSpPr>
        <p:spPr>
          <a:xfrm>
            <a:off x="4116467" y="2844403"/>
            <a:ext cx="3074670" cy="620316"/>
          </a:xfrm>
          <a:prstGeom prst="rect">
            <a:avLst/>
          </a:prstGeom>
          <a:noFill/>
          <a:ln/>
        </p:spPr>
        <p:txBody>
          <a:bodyPr wrap="square" lIns="0" tIns="0" rIns="0" bIns="0" rtlCol="0" anchor="t"/>
          <a:lstStyle/>
          <a:p>
            <a:pPr marL="0" indent="0" algn="l">
              <a:lnSpc>
                <a:spcPts val="2400"/>
              </a:lnSpc>
              <a:buNone/>
            </a:pPr>
            <a:r>
              <a:rPr lang="en-US" sz="1950" dirty="0">
                <a:solidFill>
                  <a:srgbClr val="6F655D"/>
                </a:solidFill>
                <a:latin typeface="Playfair Display Semi Bold" pitchFamily="34" charset="0"/>
                <a:ea typeface="Playfair Display Semi Bold" pitchFamily="34" charset="-122"/>
                <a:cs typeface="Playfair Display Semi Bold" pitchFamily="34" charset="-120"/>
              </a:rPr>
              <a:t>Corporate Offices &amp; Business Parks</a:t>
            </a:r>
            <a:endParaRPr lang="en-US" sz="1950" dirty="0"/>
          </a:p>
        </p:txBody>
      </p:sp>
      <p:sp>
        <p:nvSpPr>
          <p:cNvPr id="7" name="Text 5"/>
          <p:cNvSpPr/>
          <p:nvPr/>
        </p:nvSpPr>
        <p:spPr>
          <a:xfrm>
            <a:off x="4116467" y="3583781"/>
            <a:ext cx="3074670" cy="95261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Maintaining professional standards that reflect your brand values and support productivity.</a:t>
            </a:r>
            <a:endParaRPr lang="en-US" sz="1550" dirty="0"/>
          </a:p>
        </p:txBody>
      </p:sp>
      <p:sp>
        <p:nvSpPr>
          <p:cNvPr id="8" name="Text 6"/>
          <p:cNvSpPr/>
          <p:nvPr/>
        </p:nvSpPr>
        <p:spPr>
          <a:xfrm>
            <a:off x="7439144" y="284440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6F655D"/>
                </a:solidFill>
                <a:latin typeface="Playfair Display Semi Bold" pitchFamily="34" charset="0"/>
                <a:ea typeface="Playfair Display Semi Bold" pitchFamily="34" charset="-122"/>
                <a:cs typeface="Playfair Display Semi Bold" pitchFamily="34" charset="-120"/>
              </a:rPr>
              <a:t>IT &amp; BPO Companies</a:t>
            </a:r>
            <a:endParaRPr lang="en-US" sz="1950" dirty="0"/>
          </a:p>
        </p:txBody>
      </p:sp>
      <p:sp>
        <p:nvSpPr>
          <p:cNvPr id="9" name="Text 7"/>
          <p:cNvSpPr/>
          <p:nvPr/>
        </p:nvSpPr>
        <p:spPr>
          <a:xfrm>
            <a:off x="7439144" y="3273623"/>
            <a:ext cx="3074670" cy="95261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Supporting 24/7 operations with flexible, reliable facility management solutions.</a:t>
            </a:r>
            <a:endParaRPr lang="en-US" sz="1550" dirty="0"/>
          </a:p>
        </p:txBody>
      </p:sp>
      <p:sp>
        <p:nvSpPr>
          <p:cNvPr id="10" name="Text 8"/>
          <p:cNvSpPr/>
          <p:nvPr/>
        </p:nvSpPr>
        <p:spPr>
          <a:xfrm>
            <a:off x="10761821" y="2844403"/>
            <a:ext cx="3074789" cy="620316"/>
          </a:xfrm>
          <a:prstGeom prst="rect">
            <a:avLst/>
          </a:prstGeom>
          <a:noFill/>
          <a:ln/>
        </p:spPr>
        <p:txBody>
          <a:bodyPr wrap="square" lIns="0" tIns="0" rIns="0" bIns="0" rtlCol="0" anchor="t"/>
          <a:lstStyle/>
          <a:p>
            <a:pPr marL="0" indent="0" algn="l">
              <a:lnSpc>
                <a:spcPts val="2400"/>
              </a:lnSpc>
              <a:buNone/>
            </a:pPr>
            <a:r>
              <a:rPr lang="en-US" sz="1950" dirty="0">
                <a:solidFill>
                  <a:srgbClr val="6F655D"/>
                </a:solidFill>
                <a:latin typeface="Playfair Display Semi Bold" pitchFamily="34" charset="0"/>
                <a:ea typeface="Playfair Display Semi Bold" pitchFamily="34" charset="-122"/>
                <a:cs typeface="Playfair Display Semi Bold" pitchFamily="34" charset="-120"/>
              </a:rPr>
              <a:t>Industrial &amp; Manufacturing Units</a:t>
            </a:r>
            <a:endParaRPr lang="en-US" sz="1950" dirty="0"/>
          </a:p>
        </p:txBody>
      </p:sp>
      <p:sp>
        <p:nvSpPr>
          <p:cNvPr id="11" name="Text 9"/>
          <p:cNvSpPr/>
          <p:nvPr/>
        </p:nvSpPr>
        <p:spPr>
          <a:xfrm>
            <a:off x="10761821" y="3583781"/>
            <a:ext cx="3074789" cy="95261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Ensuring compliance, safety, and operational efficiency in demanding environments.</a:t>
            </a:r>
            <a:endParaRPr lang="en-US" sz="1550" dirty="0"/>
          </a:p>
        </p:txBody>
      </p:sp>
      <p:sp>
        <p:nvSpPr>
          <p:cNvPr id="12" name="Text 10"/>
          <p:cNvSpPr/>
          <p:nvPr/>
        </p:nvSpPr>
        <p:spPr>
          <a:xfrm>
            <a:off x="793790" y="5449133"/>
            <a:ext cx="3074670" cy="620316"/>
          </a:xfrm>
          <a:prstGeom prst="rect">
            <a:avLst/>
          </a:prstGeom>
          <a:noFill/>
          <a:ln/>
        </p:spPr>
        <p:txBody>
          <a:bodyPr wrap="square" lIns="0" tIns="0" rIns="0" bIns="0" rtlCol="0" anchor="t"/>
          <a:lstStyle/>
          <a:p>
            <a:pPr marL="0" indent="0" algn="l">
              <a:lnSpc>
                <a:spcPts val="2400"/>
              </a:lnSpc>
              <a:buNone/>
            </a:pPr>
            <a:r>
              <a:rPr lang="en-US" sz="1950" dirty="0">
                <a:solidFill>
                  <a:srgbClr val="6F655D"/>
                </a:solidFill>
                <a:latin typeface="Playfair Display Semi Bold" pitchFamily="34" charset="0"/>
                <a:ea typeface="Playfair Display Semi Bold" pitchFamily="34" charset="-122"/>
                <a:cs typeface="Playfair Display Semi Bold" pitchFamily="34" charset="-120"/>
              </a:rPr>
              <a:t>Healthcare, Hospitality &amp; Retail</a:t>
            </a:r>
            <a:endParaRPr lang="en-US" sz="1950" dirty="0"/>
          </a:p>
        </p:txBody>
      </p:sp>
      <p:sp>
        <p:nvSpPr>
          <p:cNvPr id="13" name="Text 11"/>
          <p:cNvSpPr/>
          <p:nvPr/>
        </p:nvSpPr>
        <p:spPr>
          <a:xfrm>
            <a:off x="793790" y="6188512"/>
            <a:ext cx="3074670" cy="127015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Delivering exceptional cleanliness and service standards where first impressions matter most.</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2451" y="612338"/>
            <a:ext cx="3515320" cy="439460"/>
          </a:xfrm>
          <a:prstGeom prst="rect">
            <a:avLst/>
          </a:prstGeom>
          <a:noFill/>
          <a:ln/>
        </p:spPr>
        <p:txBody>
          <a:bodyPr wrap="none" lIns="0" tIns="0" rIns="0" bIns="0" rtlCol="0" anchor="t"/>
          <a:lstStyle/>
          <a:p>
            <a:pPr marL="0" indent="0" algn="l">
              <a:lnSpc>
                <a:spcPts val="3450"/>
              </a:lnSpc>
              <a:buNone/>
            </a:pPr>
            <a:r>
              <a:rPr lang="en-US" sz="2750" dirty="0">
                <a:solidFill>
                  <a:srgbClr val="4B6981"/>
                </a:solidFill>
                <a:latin typeface="Playfair Display Semi Bold" pitchFamily="34" charset="0"/>
                <a:ea typeface="Playfair Display Semi Bold" pitchFamily="34" charset="-122"/>
                <a:cs typeface="Playfair Display Semi Bold" pitchFamily="34" charset="-120"/>
              </a:rPr>
              <a:t>Our Core Values</a:t>
            </a:r>
            <a:endParaRPr lang="en-US" sz="2750" dirty="0"/>
          </a:p>
        </p:txBody>
      </p:sp>
      <p:sp>
        <p:nvSpPr>
          <p:cNvPr id="3" name="Text 1"/>
          <p:cNvSpPr/>
          <p:nvPr/>
        </p:nvSpPr>
        <p:spPr>
          <a:xfrm>
            <a:off x="562451" y="1333024"/>
            <a:ext cx="13505498" cy="449818"/>
          </a:xfrm>
          <a:prstGeom prst="rect">
            <a:avLst/>
          </a:prstGeom>
          <a:noFill/>
          <a:ln/>
        </p:spPr>
        <p:txBody>
          <a:bodyPr wrap="square" lIns="0" tIns="0" rIns="0" bIns="0" rtlCol="0" anchor="t"/>
          <a:lstStyle/>
          <a:p>
            <a:pPr marL="0" indent="0" algn="l">
              <a:lnSpc>
                <a:spcPts val="1750"/>
              </a:lnSpc>
              <a:buNone/>
            </a:pPr>
            <a:r>
              <a:rPr lang="en-US" sz="1100" dirty="0">
                <a:solidFill>
                  <a:srgbClr val="6F655D"/>
                </a:solidFill>
                <a:latin typeface="Public Sans" pitchFamily="34" charset="0"/>
                <a:ea typeface="Public Sans" pitchFamily="34" charset="-122"/>
                <a:cs typeface="Public Sans" pitchFamily="34" charset="-120"/>
              </a:rPr>
              <a:t>These six principles guide every decision we make and every service we deliver. They represent our commitment to excellence and our dedication to building lasting partnerships based on trust and mutual respect.</a:t>
            </a:r>
            <a:endParaRPr lang="en-US" sz="1100" dirty="0"/>
          </a:p>
        </p:txBody>
      </p:sp>
      <p:sp>
        <p:nvSpPr>
          <p:cNvPr id="4" name="Shape 2"/>
          <p:cNvSpPr/>
          <p:nvPr/>
        </p:nvSpPr>
        <p:spPr>
          <a:xfrm>
            <a:off x="562451" y="1940957"/>
            <a:ext cx="316349" cy="316349"/>
          </a:xfrm>
          <a:prstGeom prst="roundRect">
            <a:avLst>
              <a:gd name="adj" fmla="val 18669"/>
            </a:avLst>
          </a:prstGeom>
          <a:solidFill>
            <a:srgbClr val="E1C2C2">
              <a:alpha val="50000"/>
            </a:srgbClr>
          </a:solidFill>
          <a:ln w="7620">
            <a:solidFill>
              <a:srgbClr val="C7A8A8"/>
            </a:solidFill>
            <a:prstDash val="solid"/>
          </a:ln>
          <a:effectLst>
            <a:outerShdw dist="12700" dir="2700000" algn="bl" rotWithShape="0">
              <a:srgbClr val="C7A8A8">
                <a:alpha val="100000"/>
              </a:srgbClr>
            </a:outerShdw>
          </a:effectLst>
        </p:spPr>
      </p:sp>
      <p:sp>
        <p:nvSpPr>
          <p:cNvPr id="5" name="Text 3"/>
          <p:cNvSpPr/>
          <p:nvPr/>
        </p:nvSpPr>
        <p:spPr>
          <a:xfrm>
            <a:off x="1019413" y="1967270"/>
            <a:ext cx="2109192" cy="263723"/>
          </a:xfrm>
          <a:prstGeom prst="rect">
            <a:avLst/>
          </a:prstGeom>
          <a:noFill/>
          <a:ln/>
        </p:spPr>
        <p:txBody>
          <a:bodyPr wrap="none" lIns="0" tIns="0" rIns="0" bIns="0" rtlCol="0" anchor="t"/>
          <a:lstStyle/>
          <a:p>
            <a:pPr marL="0" indent="0" algn="l">
              <a:lnSpc>
                <a:spcPts val="2050"/>
              </a:lnSpc>
              <a:buNone/>
            </a:pPr>
            <a:r>
              <a:rPr lang="en-US" sz="1650" dirty="0">
                <a:solidFill>
                  <a:srgbClr val="B05B5C"/>
                </a:solidFill>
                <a:latin typeface="Playfair Display Semi Bold" pitchFamily="34" charset="0"/>
                <a:ea typeface="Playfair Display Semi Bold" pitchFamily="34" charset="-122"/>
                <a:cs typeface="Playfair Display Semi Bold" pitchFamily="34" charset="-120"/>
              </a:rPr>
              <a:t>Integrity</a:t>
            </a:r>
            <a:endParaRPr lang="en-US" sz="1650" dirty="0"/>
          </a:p>
        </p:txBody>
      </p:sp>
      <p:sp>
        <p:nvSpPr>
          <p:cNvPr id="6" name="Text 4"/>
          <p:cNvSpPr/>
          <p:nvPr/>
        </p:nvSpPr>
        <p:spPr>
          <a:xfrm>
            <a:off x="1019413" y="2315289"/>
            <a:ext cx="13048536" cy="449818"/>
          </a:xfrm>
          <a:prstGeom prst="rect">
            <a:avLst/>
          </a:prstGeom>
          <a:noFill/>
          <a:ln/>
        </p:spPr>
        <p:txBody>
          <a:bodyPr wrap="square" lIns="0" tIns="0" rIns="0" bIns="0" rtlCol="0" anchor="t"/>
          <a:lstStyle/>
          <a:p>
            <a:pPr marL="0" indent="0" algn="l">
              <a:lnSpc>
                <a:spcPts val="1750"/>
              </a:lnSpc>
              <a:buNone/>
            </a:pPr>
            <a:r>
              <a:rPr lang="en-US" sz="1100" dirty="0">
                <a:solidFill>
                  <a:srgbClr val="6F655D"/>
                </a:solidFill>
                <a:latin typeface="Public Sans" pitchFamily="34" charset="0"/>
                <a:ea typeface="Public Sans" pitchFamily="34" charset="-122"/>
                <a:cs typeface="Public Sans" pitchFamily="34" charset="-120"/>
              </a:rPr>
              <a:t>We uphold the highest ethical standards in every aspect of our operations, ensuring honesty, transparency, and accountability. Our word is our bond, and we take pride in building relationships founded on trust and ethical conduct.</a:t>
            </a:r>
            <a:endParaRPr lang="en-US" sz="1100" dirty="0"/>
          </a:p>
        </p:txBody>
      </p:sp>
      <p:sp>
        <p:nvSpPr>
          <p:cNvPr id="7" name="Shape 5"/>
          <p:cNvSpPr/>
          <p:nvPr/>
        </p:nvSpPr>
        <p:spPr>
          <a:xfrm>
            <a:off x="562451" y="3046333"/>
            <a:ext cx="316349" cy="316349"/>
          </a:xfrm>
          <a:prstGeom prst="roundRect">
            <a:avLst>
              <a:gd name="adj" fmla="val 18669"/>
            </a:avLst>
          </a:prstGeom>
          <a:solidFill>
            <a:srgbClr val="CCC4EC">
              <a:alpha val="50000"/>
            </a:srgbClr>
          </a:solidFill>
          <a:ln w="7620">
            <a:solidFill>
              <a:srgbClr val="B2AAD2"/>
            </a:solidFill>
            <a:prstDash val="solid"/>
          </a:ln>
          <a:effectLst>
            <a:outerShdw dist="12700" dir="2700000" algn="bl" rotWithShape="0">
              <a:srgbClr val="B2AAD2">
                <a:alpha val="100000"/>
              </a:srgbClr>
            </a:outerShdw>
          </a:effectLst>
        </p:spPr>
      </p:sp>
      <p:sp>
        <p:nvSpPr>
          <p:cNvPr id="8" name="Text 6"/>
          <p:cNvSpPr/>
          <p:nvPr/>
        </p:nvSpPr>
        <p:spPr>
          <a:xfrm>
            <a:off x="1019413" y="3072646"/>
            <a:ext cx="2109192" cy="263723"/>
          </a:xfrm>
          <a:prstGeom prst="rect">
            <a:avLst/>
          </a:prstGeom>
          <a:noFill/>
          <a:ln/>
        </p:spPr>
        <p:txBody>
          <a:bodyPr wrap="none" lIns="0" tIns="0" rIns="0" bIns="0" rtlCol="0" anchor="t"/>
          <a:lstStyle/>
          <a:p>
            <a:pPr marL="0" indent="0" algn="l">
              <a:lnSpc>
                <a:spcPts val="2050"/>
              </a:lnSpc>
              <a:buNone/>
            </a:pPr>
            <a:r>
              <a:rPr lang="en-US" sz="1650" dirty="0">
                <a:solidFill>
                  <a:srgbClr val="B05B5C"/>
                </a:solidFill>
                <a:latin typeface="Playfair Display Semi Bold" pitchFamily="34" charset="0"/>
                <a:ea typeface="Playfair Display Semi Bold" pitchFamily="34" charset="-122"/>
                <a:cs typeface="Playfair Display Semi Bold" pitchFamily="34" charset="-120"/>
              </a:rPr>
              <a:t>Quality</a:t>
            </a:r>
            <a:endParaRPr lang="en-US" sz="1650" dirty="0"/>
          </a:p>
        </p:txBody>
      </p:sp>
      <p:sp>
        <p:nvSpPr>
          <p:cNvPr id="9" name="Text 7"/>
          <p:cNvSpPr/>
          <p:nvPr/>
        </p:nvSpPr>
        <p:spPr>
          <a:xfrm>
            <a:off x="1019413" y="3420666"/>
            <a:ext cx="13048536" cy="449818"/>
          </a:xfrm>
          <a:prstGeom prst="rect">
            <a:avLst/>
          </a:prstGeom>
          <a:noFill/>
          <a:ln/>
        </p:spPr>
        <p:txBody>
          <a:bodyPr wrap="square" lIns="0" tIns="0" rIns="0" bIns="0" rtlCol="0" anchor="t"/>
          <a:lstStyle/>
          <a:p>
            <a:pPr marL="0" indent="0" algn="l">
              <a:lnSpc>
                <a:spcPts val="1750"/>
              </a:lnSpc>
              <a:buNone/>
            </a:pPr>
            <a:r>
              <a:rPr lang="en-US" sz="1100" dirty="0">
                <a:solidFill>
                  <a:srgbClr val="6F655D"/>
                </a:solidFill>
                <a:latin typeface="Public Sans" pitchFamily="34" charset="0"/>
                <a:ea typeface="Public Sans" pitchFamily="34" charset="-122"/>
                <a:cs typeface="Public Sans" pitchFamily="34" charset="-120"/>
              </a:rPr>
              <a:t>We are committed to excellence through continuous improvement and meticulous attention to detail. Every task, regardless of size, receives the same level of care and precision to ensure outstanding results.</a:t>
            </a:r>
            <a:endParaRPr lang="en-US" sz="1100" dirty="0"/>
          </a:p>
        </p:txBody>
      </p:sp>
      <p:sp>
        <p:nvSpPr>
          <p:cNvPr id="10" name="Shape 8"/>
          <p:cNvSpPr/>
          <p:nvPr/>
        </p:nvSpPr>
        <p:spPr>
          <a:xfrm>
            <a:off x="562451" y="4151709"/>
            <a:ext cx="316349" cy="316349"/>
          </a:xfrm>
          <a:prstGeom prst="roundRect">
            <a:avLst>
              <a:gd name="adj" fmla="val 18669"/>
            </a:avLst>
          </a:prstGeom>
          <a:solidFill>
            <a:srgbClr val="B4DAE4">
              <a:alpha val="50000"/>
            </a:srgbClr>
          </a:solidFill>
          <a:ln w="7620">
            <a:solidFill>
              <a:srgbClr val="9AC0CA"/>
            </a:solidFill>
            <a:prstDash val="solid"/>
          </a:ln>
          <a:effectLst>
            <a:outerShdw dist="12700" dir="2700000" algn="bl" rotWithShape="0">
              <a:srgbClr val="9AC0CA">
                <a:alpha val="100000"/>
              </a:srgbClr>
            </a:outerShdw>
          </a:effectLst>
        </p:spPr>
      </p:sp>
      <p:sp>
        <p:nvSpPr>
          <p:cNvPr id="11" name="Text 9"/>
          <p:cNvSpPr/>
          <p:nvPr/>
        </p:nvSpPr>
        <p:spPr>
          <a:xfrm>
            <a:off x="1019413" y="4178022"/>
            <a:ext cx="2109192" cy="263723"/>
          </a:xfrm>
          <a:prstGeom prst="rect">
            <a:avLst/>
          </a:prstGeom>
          <a:noFill/>
          <a:ln/>
        </p:spPr>
        <p:txBody>
          <a:bodyPr wrap="none" lIns="0" tIns="0" rIns="0" bIns="0" rtlCol="0" anchor="t"/>
          <a:lstStyle/>
          <a:p>
            <a:pPr marL="0" indent="0" algn="l">
              <a:lnSpc>
                <a:spcPts val="2050"/>
              </a:lnSpc>
              <a:buNone/>
            </a:pPr>
            <a:r>
              <a:rPr lang="en-US" sz="1650" dirty="0">
                <a:solidFill>
                  <a:srgbClr val="B05B5C"/>
                </a:solidFill>
                <a:latin typeface="Playfair Display Semi Bold" pitchFamily="34" charset="0"/>
                <a:ea typeface="Playfair Display Semi Bold" pitchFamily="34" charset="-122"/>
                <a:cs typeface="Playfair Display Semi Bold" pitchFamily="34" charset="-120"/>
              </a:rPr>
              <a:t>Reliability</a:t>
            </a:r>
            <a:endParaRPr lang="en-US" sz="1650" dirty="0"/>
          </a:p>
        </p:txBody>
      </p:sp>
      <p:sp>
        <p:nvSpPr>
          <p:cNvPr id="12" name="Text 10"/>
          <p:cNvSpPr/>
          <p:nvPr/>
        </p:nvSpPr>
        <p:spPr>
          <a:xfrm>
            <a:off x="1019413" y="4526042"/>
            <a:ext cx="13048536" cy="224909"/>
          </a:xfrm>
          <a:prstGeom prst="rect">
            <a:avLst/>
          </a:prstGeom>
          <a:noFill/>
          <a:ln/>
        </p:spPr>
        <p:txBody>
          <a:bodyPr wrap="none" lIns="0" tIns="0" rIns="0" bIns="0" rtlCol="0" anchor="t"/>
          <a:lstStyle/>
          <a:p>
            <a:pPr marL="0" indent="0" algn="l">
              <a:lnSpc>
                <a:spcPts val="1750"/>
              </a:lnSpc>
              <a:buNone/>
            </a:pPr>
            <a:r>
              <a:rPr lang="en-US" sz="1100" dirty="0">
                <a:solidFill>
                  <a:srgbClr val="6F655D"/>
                </a:solidFill>
                <a:latin typeface="Public Sans" pitchFamily="34" charset="0"/>
                <a:ea typeface="Public Sans" pitchFamily="34" charset="-122"/>
                <a:cs typeface="Public Sans" pitchFamily="34" charset="-120"/>
              </a:rPr>
              <a:t>Our clients trust us for consistent, dependable service delivery, day in and day out. We understand that your operations depend on our performance, and we never take that responsibility lightly.</a:t>
            </a:r>
            <a:endParaRPr lang="en-US" sz="1100" dirty="0"/>
          </a:p>
        </p:txBody>
      </p:sp>
      <p:sp>
        <p:nvSpPr>
          <p:cNvPr id="13" name="Shape 11"/>
          <p:cNvSpPr/>
          <p:nvPr/>
        </p:nvSpPr>
        <p:spPr>
          <a:xfrm>
            <a:off x="562451" y="5032177"/>
            <a:ext cx="316349" cy="316349"/>
          </a:xfrm>
          <a:prstGeom prst="roundRect">
            <a:avLst>
              <a:gd name="adj" fmla="val 18669"/>
            </a:avLst>
          </a:prstGeom>
          <a:solidFill>
            <a:srgbClr val="E1C2C2">
              <a:alpha val="50000"/>
            </a:srgbClr>
          </a:solidFill>
          <a:ln w="7620">
            <a:solidFill>
              <a:srgbClr val="C7A8A8"/>
            </a:solidFill>
            <a:prstDash val="solid"/>
          </a:ln>
          <a:effectLst>
            <a:outerShdw dist="12700" dir="2700000" algn="bl" rotWithShape="0">
              <a:srgbClr val="C7A8A8">
                <a:alpha val="100000"/>
              </a:srgbClr>
            </a:outerShdw>
          </a:effectLst>
        </p:spPr>
      </p:sp>
      <p:sp>
        <p:nvSpPr>
          <p:cNvPr id="14" name="Text 12"/>
          <p:cNvSpPr/>
          <p:nvPr/>
        </p:nvSpPr>
        <p:spPr>
          <a:xfrm>
            <a:off x="1019413" y="5058489"/>
            <a:ext cx="2109192" cy="263723"/>
          </a:xfrm>
          <a:prstGeom prst="rect">
            <a:avLst/>
          </a:prstGeom>
          <a:noFill/>
          <a:ln/>
        </p:spPr>
        <p:txBody>
          <a:bodyPr wrap="none" lIns="0" tIns="0" rIns="0" bIns="0" rtlCol="0" anchor="t"/>
          <a:lstStyle/>
          <a:p>
            <a:pPr marL="0" indent="0" algn="l">
              <a:lnSpc>
                <a:spcPts val="2050"/>
              </a:lnSpc>
              <a:buNone/>
            </a:pPr>
            <a:r>
              <a:rPr lang="en-US" sz="1650" dirty="0">
                <a:solidFill>
                  <a:srgbClr val="B05B5C"/>
                </a:solidFill>
                <a:latin typeface="Playfair Display Semi Bold" pitchFamily="34" charset="0"/>
                <a:ea typeface="Playfair Display Semi Bold" pitchFamily="34" charset="-122"/>
                <a:cs typeface="Playfair Display Semi Bold" pitchFamily="34" charset="-120"/>
              </a:rPr>
              <a:t>Teamwork</a:t>
            </a:r>
            <a:endParaRPr lang="en-US" sz="1650" dirty="0"/>
          </a:p>
        </p:txBody>
      </p:sp>
      <p:sp>
        <p:nvSpPr>
          <p:cNvPr id="15" name="Text 13"/>
          <p:cNvSpPr/>
          <p:nvPr/>
        </p:nvSpPr>
        <p:spPr>
          <a:xfrm>
            <a:off x="1019413" y="5406509"/>
            <a:ext cx="13048536" cy="224909"/>
          </a:xfrm>
          <a:prstGeom prst="rect">
            <a:avLst/>
          </a:prstGeom>
          <a:noFill/>
          <a:ln/>
        </p:spPr>
        <p:txBody>
          <a:bodyPr wrap="none" lIns="0" tIns="0" rIns="0" bIns="0" rtlCol="0" anchor="t"/>
          <a:lstStyle/>
          <a:p>
            <a:pPr marL="0" indent="0" algn="l">
              <a:lnSpc>
                <a:spcPts val="1750"/>
              </a:lnSpc>
              <a:buNone/>
            </a:pPr>
            <a:r>
              <a:rPr lang="en-US" sz="1100" dirty="0">
                <a:solidFill>
                  <a:srgbClr val="6F655D"/>
                </a:solidFill>
                <a:latin typeface="Public Sans" pitchFamily="34" charset="0"/>
                <a:ea typeface="Public Sans" pitchFamily="34" charset="-122"/>
                <a:cs typeface="Public Sans" pitchFamily="34" charset="-120"/>
              </a:rPr>
              <a:t>We believe collaboration drives success and efficiency. Our teams work cohesively, supporting one another and sharing knowledge to deliver seamless service across all touchpoints.</a:t>
            </a:r>
            <a:endParaRPr lang="en-US" sz="1100" dirty="0"/>
          </a:p>
        </p:txBody>
      </p:sp>
      <p:sp>
        <p:nvSpPr>
          <p:cNvPr id="16" name="Shape 14"/>
          <p:cNvSpPr/>
          <p:nvPr/>
        </p:nvSpPr>
        <p:spPr>
          <a:xfrm>
            <a:off x="562451" y="5912644"/>
            <a:ext cx="316349" cy="316349"/>
          </a:xfrm>
          <a:prstGeom prst="roundRect">
            <a:avLst>
              <a:gd name="adj" fmla="val 18669"/>
            </a:avLst>
          </a:prstGeom>
          <a:solidFill>
            <a:srgbClr val="CCC4EC">
              <a:alpha val="50000"/>
            </a:srgbClr>
          </a:solidFill>
          <a:ln w="7620">
            <a:solidFill>
              <a:srgbClr val="B2AAD2"/>
            </a:solidFill>
            <a:prstDash val="solid"/>
          </a:ln>
          <a:effectLst>
            <a:outerShdw dist="12700" dir="2700000" algn="bl" rotWithShape="0">
              <a:srgbClr val="B2AAD2">
                <a:alpha val="100000"/>
              </a:srgbClr>
            </a:outerShdw>
          </a:effectLst>
        </p:spPr>
      </p:sp>
      <p:sp>
        <p:nvSpPr>
          <p:cNvPr id="17" name="Text 15"/>
          <p:cNvSpPr/>
          <p:nvPr/>
        </p:nvSpPr>
        <p:spPr>
          <a:xfrm>
            <a:off x="1019413" y="5938957"/>
            <a:ext cx="2109192" cy="263723"/>
          </a:xfrm>
          <a:prstGeom prst="rect">
            <a:avLst/>
          </a:prstGeom>
          <a:noFill/>
          <a:ln/>
        </p:spPr>
        <p:txBody>
          <a:bodyPr wrap="none" lIns="0" tIns="0" rIns="0" bIns="0" rtlCol="0" anchor="t"/>
          <a:lstStyle/>
          <a:p>
            <a:pPr marL="0" indent="0" algn="l">
              <a:lnSpc>
                <a:spcPts val="2050"/>
              </a:lnSpc>
              <a:buNone/>
            </a:pPr>
            <a:r>
              <a:rPr lang="en-US" sz="1650" dirty="0">
                <a:solidFill>
                  <a:srgbClr val="B05B5C"/>
                </a:solidFill>
                <a:latin typeface="Playfair Display Semi Bold" pitchFamily="34" charset="0"/>
                <a:ea typeface="Playfair Display Semi Bold" pitchFamily="34" charset="-122"/>
                <a:cs typeface="Playfair Display Semi Bold" pitchFamily="34" charset="-120"/>
              </a:rPr>
              <a:t>Customer Focus</a:t>
            </a:r>
            <a:endParaRPr lang="en-US" sz="1650" dirty="0"/>
          </a:p>
        </p:txBody>
      </p:sp>
      <p:sp>
        <p:nvSpPr>
          <p:cNvPr id="18" name="Text 16"/>
          <p:cNvSpPr/>
          <p:nvPr/>
        </p:nvSpPr>
        <p:spPr>
          <a:xfrm>
            <a:off x="1019413" y="6286976"/>
            <a:ext cx="13048536" cy="224909"/>
          </a:xfrm>
          <a:prstGeom prst="rect">
            <a:avLst/>
          </a:prstGeom>
          <a:noFill/>
          <a:ln/>
        </p:spPr>
        <p:txBody>
          <a:bodyPr wrap="none" lIns="0" tIns="0" rIns="0" bIns="0" rtlCol="0" anchor="t"/>
          <a:lstStyle/>
          <a:p>
            <a:pPr marL="0" indent="0" algn="l">
              <a:lnSpc>
                <a:spcPts val="1750"/>
              </a:lnSpc>
              <a:buNone/>
            </a:pPr>
            <a:r>
              <a:rPr lang="en-US" sz="1100" dirty="0">
                <a:solidFill>
                  <a:srgbClr val="6F655D"/>
                </a:solidFill>
                <a:latin typeface="Public Sans" pitchFamily="34" charset="0"/>
                <a:ea typeface="Public Sans" pitchFamily="34" charset="-122"/>
                <a:cs typeface="Public Sans" pitchFamily="34" charset="-120"/>
              </a:rPr>
              <a:t>Our clients' satisfaction is at the centre of everything we do. We listen carefully, respond promptly, and continuously adapt our services to meet evolving needs and expectations.</a:t>
            </a:r>
            <a:endParaRPr lang="en-US" sz="1100" dirty="0"/>
          </a:p>
        </p:txBody>
      </p:sp>
      <p:sp>
        <p:nvSpPr>
          <p:cNvPr id="19" name="Shape 17"/>
          <p:cNvSpPr/>
          <p:nvPr/>
        </p:nvSpPr>
        <p:spPr>
          <a:xfrm>
            <a:off x="562451" y="6793111"/>
            <a:ext cx="316349" cy="316349"/>
          </a:xfrm>
          <a:prstGeom prst="roundRect">
            <a:avLst>
              <a:gd name="adj" fmla="val 18669"/>
            </a:avLst>
          </a:prstGeom>
          <a:solidFill>
            <a:srgbClr val="B4DAE4">
              <a:alpha val="50000"/>
            </a:srgbClr>
          </a:solidFill>
          <a:ln w="7620">
            <a:solidFill>
              <a:srgbClr val="9AC0CA"/>
            </a:solidFill>
            <a:prstDash val="solid"/>
          </a:ln>
          <a:effectLst>
            <a:outerShdw dist="12700" dir="2700000" algn="bl" rotWithShape="0">
              <a:srgbClr val="9AC0CA">
                <a:alpha val="100000"/>
              </a:srgbClr>
            </a:outerShdw>
          </a:effectLst>
        </p:spPr>
      </p:sp>
      <p:sp>
        <p:nvSpPr>
          <p:cNvPr id="20" name="Text 18"/>
          <p:cNvSpPr/>
          <p:nvPr/>
        </p:nvSpPr>
        <p:spPr>
          <a:xfrm>
            <a:off x="1019413" y="6819424"/>
            <a:ext cx="2109192" cy="263723"/>
          </a:xfrm>
          <a:prstGeom prst="rect">
            <a:avLst/>
          </a:prstGeom>
          <a:noFill/>
          <a:ln/>
        </p:spPr>
        <p:txBody>
          <a:bodyPr wrap="none" lIns="0" tIns="0" rIns="0" bIns="0" rtlCol="0" anchor="t"/>
          <a:lstStyle/>
          <a:p>
            <a:pPr marL="0" indent="0" algn="l">
              <a:lnSpc>
                <a:spcPts val="2050"/>
              </a:lnSpc>
              <a:buNone/>
            </a:pPr>
            <a:r>
              <a:rPr lang="en-US" sz="1650" dirty="0">
                <a:solidFill>
                  <a:srgbClr val="B05B5C"/>
                </a:solidFill>
                <a:latin typeface="Playfair Display Semi Bold" pitchFamily="34" charset="0"/>
                <a:ea typeface="Playfair Display Semi Bold" pitchFamily="34" charset="-122"/>
                <a:cs typeface="Playfair Display Semi Bold" pitchFamily="34" charset="-120"/>
              </a:rPr>
              <a:t>Innovation</a:t>
            </a:r>
            <a:endParaRPr lang="en-US" sz="1650" dirty="0"/>
          </a:p>
        </p:txBody>
      </p:sp>
      <p:sp>
        <p:nvSpPr>
          <p:cNvPr id="21" name="Text 19"/>
          <p:cNvSpPr/>
          <p:nvPr/>
        </p:nvSpPr>
        <p:spPr>
          <a:xfrm>
            <a:off x="1019413" y="7167443"/>
            <a:ext cx="13048536" cy="449818"/>
          </a:xfrm>
          <a:prstGeom prst="rect">
            <a:avLst/>
          </a:prstGeom>
          <a:noFill/>
          <a:ln/>
        </p:spPr>
        <p:txBody>
          <a:bodyPr wrap="square" lIns="0" tIns="0" rIns="0" bIns="0" rtlCol="0" anchor="t"/>
          <a:lstStyle/>
          <a:p>
            <a:pPr marL="0" indent="0" algn="l">
              <a:lnSpc>
                <a:spcPts val="1750"/>
              </a:lnSpc>
              <a:buNone/>
            </a:pPr>
            <a:r>
              <a:rPr lang="en-US" sz="1100" dirty="0">
                <a:solidFill>
                  <a:srgbClr val="6F655D"/>
                </a:solidFill>
                <a:latin typeface="Public Sans" pitchFamily="34" charset="0"/>
                <a:ea typeface="Public Sans" pitchFamily="34" charset="-122"/>
                <a:cs typeface="Public Sans" pitchFamily="34" charset="-120"/>
              </a:rPr>
              <a:t>We continuously adapt to new technologies and methods for better outcomes. By staying at the forefront of industry developments, we ensure our clients benefit from the most effective and efficient solutions available.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366361"/>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4B6981"/>
                </a:solidFill>
                <a:latin typeface="Playfair Display Semi Bold" pitchFamily="34" charset="0"/>
                <a:ea typeface="Playfair Display Semi Bold" pitchFamily="34" charset="-122"/>
                <a:cs typeface="Playfair Display Semi Bold" pitchFamily="34" charset="-120"/>
              </a:rPr>
              <a:t>Our Mission &amp; Vision</a:t>
            </a:r>
            <a:endParaRPr lang="en-US" sz="3900" dirty="0"/>
          </a:p>
        </p:txBody>
      </p:sp>
      <p:sp>
        <p:nvSpPr>
          <p:cNvPr id="3" name="Shape 1"/>
          <p:cNvSpPr/>
          <p:nvPr/>
        </p:nvSpPr>
        <p:spPr>
          <a:xfrm>
            <a:off x="793790" y="2507337"/>
            <a:ext cx="6279356" cy="3815001"/>
          </a:xfrm>
          <a:prstGeom prst="roundRect">
            <a:avLst>
              <a:gd name="adj" fmla="val 2185"/>
            </a:avLst>
          </a:prstGeom>
          <a:solidFill>
            <a:srgbClr val="E6CCCC"/>
          </a:solidFill>
          <a:ln/>
        </p:spPr>
      </p:sp>
      <p:pic>
        <p:nvPicPr>
          <p:cNvPr id="4" name="Image 0" descr="preencoded.png"/>
          <p:cNvPicPr>
            <a:picLocks noChangeAspect="1"/>
          </p:cNvPicPr>
          <p:nvPr/>
        </p:nvPicPr>
        <p:blipFill>
          <a:blip r:embed="rId3"/>
          <a:stretch>
            <a:fillRect/>
          </a:stretch>
        </p:blipFill>
        <p:spPr>
          <a:xfrm>
            <a:off x="992148" y="2799517"/>
            <a:ext cx="372070" cy="297656"/>
          </a:xfrm>
          <a:prstGeom prst="rect">
            <a:avLst/>
          </a:prstGeom>
        </p:spPr>
      </p:pic>
      <p:sp>
        <p:nvSpPr>
          <p:cNvPr id="5" name="Text 2"/>
          <p:cNvSpPr/>
          <p:nvPr/>
        </p:nvSpPr>
        <p:spPr>
          <a:xfrm>
            <a:off x="1562576" y="2755225"/>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B05B5C"/>
                </a:solidFill>
                <a:latin typeface="Playfair Display Semi Bold" pitchFamily="34" charset="0"/>
                <a:ea typeface="Playfair Display Semi Bold" pitchFamily="34" charset="-122"/>
                <a:cs typeface="Playfair Display Semi Bold" pitchFamily="34" charset="-120"/>
              </a:rPr>
              <a:t>Our Mission</a:t>
            </a:r>
            <a:endParaRPr lang="en-US" sz="2300" dirty="0"/>
          </a:p>
        </p:txBody>
      </p:sp>
      <p:sp>
        <p:nvSpPr>
          <p:cNvPr id="6" name="Text 3"/>
          <p:cNvSpPr/>
          <p:nvPr/>
        </p:nvSpPr>
        <p:spPr>
          <a:xfrm>
            <a:off x="1562576" y="3325654"/>
            <a:ext cx="5312212"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Public Sans" pitchFamily="34" charset="0"/>
                <a:ea typeface="Public Sans" pitchFamily="34" charset="-122"/>
                <a:cs typeface="Public Sans" pitchFamily="34" charset="-120"/>
              </a:rPr>
              <a:t>To deliver world-class facility management services with integrity, efficiency, and innovation—enhancing workplace performance and building long-term partnerships based on trust and excellence.</a:t>
            </a:r>
            <a:endParaRPr lang="en-US" sz="1550" dirty="0"/>
          </a:p>
        </p:txBody>
      </p:sp>
      <p:sp>
        <p:nvSpPr>
          <p:cNvPr id="7" name="Text 4"/>
          <p:cNvSpPr/>
          <p:nvPr/>
        </p:nvSpPr>
        <p:spPr>
          <a:xfrm>
            <a:off x="1562576" y="4774406"/>
            <a:ext cx="5312212"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Public Sans" pitchFamily="34" charset="0"/>
                <a:ea typeface="Public Sans" pitchFamily="34" charset="-122"/>
                <a:cs typeface="Public Sans" pitchFamily="34" charset="-120"/>
              </a:rPr>
              <a:t>We strive to be more than just a service provider; we aim to be a strategic partner in your success, contributing to your operational efficiency and creating environments where your people can perform at their best.</a:t>
            </a:r>
            <a:endParaRPr lang="en-US" sz="1550" dirty="0"/>
          </a:p>
        </p:txBody>
      </p:sp>
      <p:sp>
        <p:nvSpPr>
          <p:cNvPr id="8" name="Shape 5"/>
          <p:cNvSpPr/>
          <p:nvPr/>
        </p:nvSpPr>
        <p:spPr>
          <a:xfrm>
            <a:off x="7564874" y="2507337"/>
            <a:ext cx="6279356" cy="4132540"/>
          </a:xfrm>
          <a:prstGeom prst="roundRect">
            <a:avLst>
              <a:gd name="adj" fmla="val 2017"/>
            </a:avLst>
          </a:prstGeom>
          <a:solidFill>
            <a:srgbClr val="E6CCCC"/>
          </a:solidFill>
          <a:ln/>
        </p:spPr>
      </p:sp>
      <p:pic>
        <p:nvPicPr>
          <p:cNvPr id="9" name="Image 1" descr="preencoded.png"/>
          <p:cNvPicPr>
            <a:picLocks noChangeAspect="1"/>
          </p:cNvPicPr>
          <p:nvPr/>
        </p:nvPicPr>
        <p:blipFill>
          <a:blip r:embed="rId3"/>
          <a:stretch>
            <a:fillRect/>
          </a:stretch>
        </p:blipFill>
        <p:spPr>
          <a:xfrm>
            <a:off x="7763232" y="2799517"/>
            <a:ext cx="372070" cy="297656"/>
          </a:xfrm>
          <a:prstGeom prst="rect">
            <a:avLst/>
          </a:prstGeom>
        </p:spPr>
      </p:pic>
      <p:sp>
        <p:nvSpPr>
          <p:cNvPr id="10" name="Text 6"/>
          <p:cNvSpPr/>
          <p:nvPr/>
        </p:nvSpPr>
        <p:spPr>
          <a:xfrm>
            <a:off x="8333661" y="2755225"/>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B05B5C"/>
                </a:solidFill>
                <a:latin typeface="Playfair Display Semi Bold" pitchFamily="34" charset="0"/>
                <a:ea typeface="Playfair Display Semi Bold" pitchFamily="34" charset="-122"/>
                <a:cs typeface="Playfair Display Semi Bold" pitchFamily="34" charset="-120"/>
              </a:rPr>
              <a:t>Our Vision</a:t>
            </a:r>
            <a:endParaRPr lang="en-US" sz="2300" dirty="0"/>
          </a:p>
        </p:txBody>
      </p:sp>
      <p:sp>
        <p:nvSpPr>
          <p:cNvPr id="11" name="Text 7"/>
          <p:cNvSpPr/>
          <p:nvPr/>
        </p:nvSpPr>
        <p:spPr>
          <a:xfrm>
            <a:off x="8333661" y="3325654"/>
            <a:ext cx="5312212"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Public Sans" pitchFamily="34" charset="0"/>
                <a:ea typeface="Public Sans" pitchFamily="34" charset="-122"/>
                <a:cs typeface="Public Sans" pitchFamily="34" charset="-120"/>
              </a:rPr>
              <a:t>To be recognised as a premier facility management company that sets new benchmarks in quality, professionalism, and ethical service delivery across the United Kingdom.</a:t>
            </a:r>
            <a:endParaRPr lang="en-US" sz="1550" dirty="0"/>
          </a:p>
        </p:txBody>
      </p:sp>
      <p:sp>
        <p:nvSpPr>
          <p:cNvPr id="12" name="Text 8"/>
          <p:cNvSpPr/>
          <p:nvPr/>
        </p:nvSpPr>
        <p:spPr>
          <a:xfrm>
            <a:off x="8333661" y="4774406"/>
            <a:ext cx="5312212" cy="1587698"/>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Public Sans" pitchFamily="34" charset="0"/>
                <a:ea typeface="Public Sans" pitchFamily="34" charset="-122"/>
                <a:cs typeface="Public Sans" pitchFamily="34" charset="-120"/>
              </a:rPr>
              <a:t>We envision a future where UK Facility Management Services is synonymous with excellence, where our reputation for integrity and quality makes us the first choice for organisations seeking outstanding facility management solutions.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94636"/>
            <a:ext cx="8988981" cy="620078"/>
          </a:xfrm>
          <a:prstGeom prst="rect">
            <a:avLst/>
          </a:prstGeom>
          <a:noFill/>
          <a:ln/>
        </p:spPr>
        <p:txBody>
          <a:bodyPr wrap="none" lIns="0" tIns="0" rIns="0" bIns="0" rtlCol="0" anchor="t"/>
          <a:lstStyle/>
          <a:p>
            <a:pPr marL="0" indent="0" algn="l">
              <a:lnSpc>
                <a:spcPts val="4850"/>
              </a:lnSpc>
              <a:buNone/>
            </a:pPr>
            <a:r>
              <a:rPr lang="en-US" sz="3900" dirty="0">
                <a:solidFill>
                  <a:srgbClr val="4B6981"/>
                </a:solidFill>
                <a:latin typeface="Playfair Display Semi Bold" pitchFamily="34" charset="0"/>
                <a:ea typeface="Playfair Display Semi Bold" pitchFamily="34" charset="-122"/>
                <a:cs typeface="Playfair Display Semi Bold" pitchFamily="34" charset="-120"/>
              </a:rPr>
              <a:t>The UK Facility Management Difference</a:t>
            </a:r>
            <a:endParaRPr lang="en-US" sz="3900" dirty="0"/>
          </a:p>
        </p:txBody>
      </p:sp>
      <p:sp>
        <p:nvSpPr>
          <p:cNvPr id="3" name="Text 1"/>
          <p:cNvSpPr/>
          <p:nvPr/>
        </p:nvSpPr>
        <p:spPr>
          <a:xfrm>
            <a:off x="2353389" y="1987987"/>
            <a:ext cx="2480905" cy="310158"/>
          </a:xfrm>
          <a:prstGeom prst="rect">
            <a:avLst/>
          </a:prstGeom>
          <a:noFill/>
          <a:ln/>
        </p:spPr>
        <p:txBody>
          <a:bodyPr wrap="none" lIns="0" tIns="0" rIns="0" bIns="0" rtlCol="0" anchor="t"/>
          <a:lstStyle/>
          <a:p>
            <a:pPr marL="0" indent="0" algn="r">
              <a:lnSpc>
                <a:spcPts val="2400"/>
              </a:lnSpc>
              <a:buNone/>
            </a:pPr>
            <a:r>
              <a:rPr lang="en-US" sz="1950" dirty="0">
                <a:solidFill>
                  <a:srgbClr val="6F655D"/>
                </a:solidFill>
                <a:latin typeface="Playfair Display Semi Bold" pitchFamily="34" charset="0"/>
                <a:ea typeface="Playfair Display Semi Bold" pitchFamily="34" charset="-122"/>
                <a:cs typeface="Playfair Display Semi Bold" pitchFamily="34" charset="-120"/>
              </a:rPr>
              <a:t>Trained Professionals</a:t>
            </a:r>
            <a:endParaRPr lang="en-US" sz="1950" dirty="0"/>
          </a:p>
        </p:txBody>
      </p:sp>
      <p:sp>
        <p:nvSpPr>
          <p:cNvPr id="4" name="Text 2"/>
          <p:cNvSpPr/>
          <p:nvPr/>
        </p:nvSpPr>
        <p:spPr>
          <a:xfrm>
            <a:off x="793790" y="2417207"/>
            <a:ext cx="4040505" cy="952619"/>
          </a:xfrm>
          <a:prstGeom prst="rect">
            <a:avLst/>
          </a:prstGeom>
          <a:noFill/>
          <a:ln/>
        </p:spPr>
        <p:txBody>
          <a:bodyPr wrap="square" lIns="0" tIns="0" rIns="0" bIns="0" rtlCol="0" anchor="t"/>
          <a:lstStyle/>
          <a:p>
            <a:pPr marL="0" indent="0" algn="r">
              <a:lnSpc>
                <a:spcPts val="2500"/>
              </a:lnSpc>
              <a:buNone/>
            </a:pPr>
            <a:r>
              <a:rPr lang="en-US" sz="1550" dirty="0">
                <a:solidFill>
                  <a:srgbClr val="6F655D"/>
                </a:solidFill>
                <a:latin typeface="Public Sans" pitchFamily="34" charset="0"/>
                <a:ea typeface="Public Sans" pitchFamily="34" charset="-122"/>
                <a:cs typeface="Public Sans" pitchFamily="34" charset="-120"/>
              </a:rPr>
              <a:t>Every team member undergoes comprehensive training and continuous development</a:t>
            </a:r>
            <a:endParaRPr lang="en-US" sz="1550" dirty="0"/>
          </a:p>
        </p:txBody>
      </p:sp>
      <p:pic>
        <p:nvPicPr>
          <p:cNvPr id="5" name="Image 0" descr="preencoded.png"/>
          <p:cNvPicPr>
            <a:picLocks noChangeAspect="1"/>
          </p:cNvPicPr>
          <p:nvPr/>
        </p:nvPicPr>
        <p:blipFill>
          <a:blip r:embed="rId3"/>
          <a:stretch>
            <a:fillRect/>
          </a:stretch>
        </p:blipFill>
        <p:spPr>
          <a:xfrm>
            <a:off x="5032653" y="1911548"/>
            <a:ext cx="4564975" cy="4564975"/>
          </a:xfrm>
          <a:prstGeom prst="rect">
            <a:avLst/>
          </a:prstGeom>
        </p:spPr>
      </p:pic>
      <p:pic>
        <p:nvPicPr>
          <p:cNvPr id="6" name="Image 1" descr="preencoded.png"/>
          <p:cNvPicPr>
            <a:picLocks noChangeAspect="1"/>
          </p:cNvPicPr>
          <p:nvPr/>
        </p:nvPicPr>
        <p:blipFill>
          <a:blip r:embed="rId4"/>
          <a:stretch>
            <a:fillRect/>
          </a:stretch>
        </p:blipFill>
        <p:spPr>
          <a:xfrm>
            <a:off x="6617434" y="2507992"/>
            <a:ext cx="296942" cy="371118"/>
          </a:xfrm>
          <a:prstGeom prst="rect">
            <a:avLst/>
          </a:prstGeom>
        </p:spPr>
      </p:pic>
      <p:sp>
        <p:nvSpPr>
          <p:cNvPr id="7" name="Text 3"/>
          <p:cNvSpPr/>
          <p:nvPr/>
        </p:nvSpPr>
        <p:spPr>
          <a:xfrm>
            <a:off x="9795986" y="2146816"/>
            <a:ext cx="2641283" cy="310158"/>
          </a:xfrm>
          <a:prstGeom prst="rect">
            <a:avLst/>
          </a:prstGeom>
          <a:noFill/>
          <a:ln/>
        </p:spPr>
        <p:txBody>
          <a:bodyPr wrap="none" lIns="0" tIns="0" rIns="0" bIns="0" rtlCol="0" anchor="t"/>
          <a:lstStyle/>
          <a:p>
            <a:pPr marL="0" indent="0" algn="l">
              <a:lnSpc>
                <a:spcPts val="2400"/>
              </a:lnSpc>
              <a:buNone/>
            </a:pPr>
            <a:r>
              <a:rPr lang="en-US" sz="1950" dirty="0">
                <a:solidFill>
                  <a:srgbClr val="6F655D"/>
                </a:solidFill>
                <a:latin typeface="Playfair Display Semi Bold" pitchFamily="34" charset="0"/>
                <a:ea typeface="Playfair Display Semi Bold" pitchFamily="34" charset="-122"/>
                <a:cs typeface="Playfair Display Semi Bold" pitchFamily="34" charset="-120"/>
              </a:rPr>
              <a:t>Eco-Friendly Approach</a:t>
            </a:r>
            <a:endParaRPr lang="en-US" sz="1950" dirty="0"/>
          </a:p>
        </p:txBody>
      </p:sp>
      <p:sp>
        <p:nvSpPr>
          <p:cNvPr id="8" name="Text 4"/>
          <p:cNvSpPr/>
          <p:nvPr/>
        </p:nvSpPr>
        <p:spPr>
          <a:xfrm>
            <a:off x="9795986" y="2576036"/>
            <a:ext cx="4040624" cy="63507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Sustainable practises and environmentally responsible cleaning solutions</a:t>
            </a:r>
            <a:endParaRPr lang="en-US" sz="1550" dirty="0"/>
          </a:p>
        </p:txBody>
      </p:sp>
      <p:pic>
        <p:nvPicPr>
          <p:cNvPr id="9" name="Image 2" descr="preencoded.png"/>
          <p:cNvPicPr>
            <a:picLocks noChangeAspect="1"/>
          </p:cNvPicPr>
          <p:nvPr/>
        </p:nvPicPr>
        <p:blipFill>
          <a:blip r:embed="rId5"/>
          <a:stretch>
            <a:fillRect/>
          </a:stretch>
        </p:blipFill>
        <p:spPr>
          <a:xfrm>
            <a:off x="5032653" y="1911548"/>
            <a:ext cx="4564975" cy="4564975"/>
          </a:xfrm>
          <a:prstGeom prst="rect">
            <a:avLst/>
          </a:prstGeom>
        </p:spPr>
      </p:pic>
      <p:pic>
        <p:nvPicPr>
          <p:cNvPr id="10" name="Image 3" descr="preencoded.png"/>
          <p:cNvPicPr>
            <a:picLocks noChangeAspect="1"/>
          </p:cNvPicPr>
          <p:nvPr/>
        </p:nvPicPr>
        <p:blipFill>
          <a:blip r:embed="rId6"/>
          <a:stretch>
            <a:fillRect/>
          </a:stretch>
        </p:blipFill>
        <p:spPr>
          <a:xfrm>
            <a:off x="8191440" y="2782669"/>
            <a:ext cx="296942" cy="371118"/>
          </a:xfrm>
          <a:prstGeom prst="rect">
            <a:avLst/>
          </a:prstGeom>
        </p:spPr>
      </p:pic>
      <p:sp>
        <p:nvSpPr>
          <p:cNvPr id="11" name="Text 5"/>
          <p:cNvSpPr/>
          <p:nvPr/>
        </p:nvSpPr>
        <p:spPr>
          <a:xfrm>
            <a:off x="9994463" y="382059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6F655D"/>
                </a:solidFill>
                <a:latin typeface="Playfair Display Semi Bold" pitchFamily="34" charset="0"/>
                <a:ea typeface="Playfair Display Semi Bold" pitchFamily="34" charset="-122"/>
                <a:cs typeface="Playfair Display Semi Bold" pitchFamily="34" charset="-120"/>
              </a:rPr>
              <a:t>Modern Equipment</a:t>
            </a:r>
            <a:endParaRPr lang="en-US" sz="1950" dirty="0"/>
          </a:p>
        </p:txBody>
      </p:sp>
      <p:sp>
        <p:nvSpPr>
          <p:cNvPr id="12" name="Text 6"/>
          <p:cNvSpPr/>
          <p:nvPr/>
        </p:nvSpPr>
        <p:spPr>
          <a:xfrm>
            <a:off x="9994463" y="4249817"/>
            <a:ext cx="3842147" cy="63507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State-of-the-art tools and technology for superior results</a:t>
            </a:r>
            <a:endParaRPr lang="en-US" sz="1550" dirty="0"/>
          </a:p>
        </p:txBody>
      </p:sp>
      <p:pic>
        <p:nvPicPr>
          <p:cNvPr id="13" name="Image 4" descr="preencoded.png"/>
          <p:cNvPicPr>
            <a:picLocks noChangeAspect="1"/>
          </p:cNvPicPr>
          <p:nvPr/>
        </p:nvPicPr>
        <p:blipFill>
          <a:blip r:embed="rId7"/>
          <a:stretch>
            <a:fillRect/>
          </a:stretch>
        </p:blipFill>
        <p:spPr>
          <a:xfrm>
            <a:off x="5032653" y="1911548"/>
            <a:ext cx="4564975" cy="4564975"/>
          </a:xfrm>
          <a:prstGeom prst="rect">
            <a:avLst/>
          </a:prstGeom>
        </p:spPr>
      </p:pic>
      <p:pic>
        <p:nvPicPr>
          <p:cNvPr id="14" name="Image 5" descr="preencoded.png"/>
          <p:cNvPicPr>
            <a:picLocks noChangeAspect="1"/>
          </p:cNvPicPr>
          <p:nvPr/>
        </p:nvPicPr>
        <p:blipFill>
          <a:blip r:embed="rId8"/>
          <a:stretch>
            <a:fillRect/>
          </a:stretch>
        </p:blipFill>
        <p:spPr>
          <a:xfrm>
            <a:off x="8740557" y="4283095"/>
            <a:ext cx="296942" cy="371118"/>
          </a:xfrm>
          <a:prstGeom prst="rect">
            <a:avLst/>
          </a:prstGeom>
        </p:spPr>
      </p:pic>
      <p:sp>
        <p:nvSpPr>
          <p:cNvPr id="15" name="Text 7"/>
          <p:cNvSpPr/>
          <p:nvPr/>
        </p:nvSpPr>
        <p:spPr>
          <a:xfrm>
            <a:off x="9795986" y="533566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6F655D"/>
                </a:solidFill>
                <a:latin typeface="Playfair Display Semi Bold" pitchFamily="34" charset="0"/>
                <a:ea typeface="Playfair Display Semi Bold" pitchFamily="34" charset="-122"/>
                <a:cs typeface="Playfair Display Semi Bold" pitchFamily="34" charset="-120"/>
              </a:rPr>
              <a:t>Quality Assurance</a:t>
            </a:r>
            <a:endParaRPr lang="en-US" sz="1950" dirty="0"/>
          </a:p>
        </p:txBody>
      </p:sp>
      <p:sp>
        <p:nvSpPr>
          <p:cNvPr id="16" name="Text 8"/>
          <p:cNvSpPr/>
          <p:nvPr/>
        </p:nvSpPr>
        <p:spPr>
          <a:xfrm>
            <a:off x="9795986" y="5764887"/>
            <a:ext cx="4040624" cy="63507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Rigorous monitoring and regular audits ensure consistent excellence</a:t>
            </a:r>
            <a:endParaRPr lang="en-US" sz="1550" dirty="0"/>
          </a:p>
        </p:txBody>
      </p:sp>
      <p:pic>
        <p:nvPicPr>
          <p:cNvPr id="17" name="Image 6" descr="preencoded.png"/>
          <p:cNvPicPr>
            <a:picLocks noChangeAspect="1"/>
          </p:cNvPicPr>
          <p:nvPr/>
        </p:nvPicPr>
        <p:blipFill>
          <a:blip r:embed="rId9"/>
          <a:stretch>
            <a:fillRect/>
          </a:stretch>
        </p:blipFill>
        <p:spPr>
          <a:xfrm>
            <a:off x="5032653" y="1911548"/>
            <a:ext cx="4564975" cy="4564975"/>
          </a:xfrm>
          <a:prstGeom prst="rect">
            <a:avLst/>
          </a:prstGeom>
        </p:spPr>
      </p:pic>
      <p:pic>
        <p:nvPicPr>
          <p:cNvPr id="18" name="Image 7" descr="preencoded.png"/>
          <p:cNvPicPr>
            <a:picLocks noChangeAspect="1"/>
          </p:cNvPicPr>
          <p:nvPr/>
        </p:nvPicPr>
        <p:blipFill>
          <a:blip r:embed="rId10"/>
          <a:stretch>
            <a:fillRect/>
          </a:stretch>
        </p:blipFill>
        <p:spPr>
          <a:xfrm>
            <a:off x="7715667" y="5508843"/>
            <a:ext cx="296942" cy="371118"/>
          </a:xfrm>
          <a:prstGeom prst="rect">
            <a:avLst/>
          </a:prstGeom>
        </p:spPr>
      </p:pic>
      <p:sp>
        <p:nvSpPr>
          <p:cNvPr id="19" name="Text 9"/>
          <p:cNvSpPr/>
          <p:nvPr/>
        </p:nvSpPr>
        <p:spPr>
          <a:xfrm>
            <a:off x="2353389" y="5335667"/>
            <a:ext cx="2480905" cy="310158"/>
          </a:xfrm>
          <a:prstGeom prst="rect">
            <a:avLst/>
          </a:prstGeom>
          <a:noFill/>
          <a:ln/>
        </p:spPr>
        <p:txBody>
          <a:bodyPr wrap="none" lIns="0" tIns="0" rIns="0" bIns="0" rtlCol="0" anchor="t"/>
          <a:lstStyle/>
          <a:p>
            <a:pPr marL="0" indent="0" algn="r">
              <a:lnSpc>
                <a:spcPts val="2400"/>
              </a:lnSpc>
              <a:buNone/>
            </a:pPr>
            <a:r>
              <a:rPr lang="en-US" sz="1950" dirty="0">
                <a:solidFill>
                  <a:srgbClr val="6F655D"/>
                </a:solidFill>
                <a:latin typeface="Playfair Display Semi Bold" pitchFamily="34" charset="0"/>
                <a:ea typeface="Playfair Display Semi Bold" pitchFamily="34" charset="-122"/>
                <a:cs typeface="Playfair Display Semi Bold" pitchFamily="34" charset="-120"/>
              </a:rPr>
              <a:t>Flexible Solutions</a:t>
            </a:r>
            <a:endParaRPr lang="en-US" sz="1950" dirty="0"/>
          </a:p>
        </p:txBody>
      </p:sp>
      <p:sp>
        <p:nvSpPr>
          <p:cNvPr id="20" name="Text 10"/>
          <p:cNvSpPr/>
          <p:nvPr/>
        </p:nvSpPr>
        <p:spPr>
          <a:xfrm>
            <a:off x="793790" y="5764887"/>
            <a:ext cx="4040505" cy="635079"/>
          </a:xfrm>
          <a:prstGeom prst="rect">
            <a:avLst/>
          </a:prstGeom>
          <a:noFill/>
          <a:ln/>
        </p:spPr>
        <p:txBody>
          <a:bodyPr wrap="square" lIns="0" tIns="0" rIns="0" bIns="0" rtlCol="0" anchor="t"/>
          <a:lstStyle/>
          <a:p>
            <a:pPr marL="0" indent="0" algn="r">
              <a:lnSpc>
                <a:spcPts val="2500"/>
              </a:lnSpc>
              <a:buNone/>
            </a:pPr>
            <a:r>
              <a:rPr lang="en-US" sz="1550" dirty="0">
                <a:solidFill>
                  <a:srgbClr val="6F655D"/>
                </a:solidFill>
                <a:latin typeface="Public Sans" pitchFamily="34" charset="0"/>
                <a:ea typeface="Public Sans" pitchFamily="34" charset="-122"/>
                <a:cs typeface="Public Sans" pitchFamily="34" charset="-120"/>
              </a:rPr>
              <a:t>Customised programmes that adapt to your unique requirements</a:t>
            </a:r>
            <a:endParaRPr lang="en-US" sz="1550" dirty="0"/>
          </a:p>
        </p:txBody>
      </p:sp>
      <p:pic>
        <p:nvPicPr>
          <p:cNvPr id="21" name="Image 8" descr="preencoded.png"/>
          <p:cNvPicPr>
            <a:picLocks noChangeAspect="1"/>
          </p:cNvPicPr>
          <p:nvPr/>
        </p:nvPicPr>
        <p:blipFill>
          <a:blip r:embed="rId11"/>
          <a:stretch>
            <a:fillRect/>
          </a:stretch>
        </p:blipFill>
        <p:spPr>
          <a:xfrm>
            <a:off x="5032653" y="1911548"/>
            <a:ext cx="4564975" cy="4564975"/>
          </a:xfrm>
          <a:prstGeom prst="rect">
            <a:avLst/>
          </a:prstGeom>
        </p:spPr>
      </p:pic>
      <p:pic>
        <p:nvPicPr>
          <p:cNvPr id="22" name="Image 9" descr="preencoded.png"/>
          <p:cNvPicPr>
            <a:picLocks noChangeAspect="1"/>
          </p:cNvPicPr>
          <p:nvPr/>
        </p:nvPicPr>
        <p:blipFill>
          <a:blip r:embed="rId12"/>
          <a:stretch>
            <a:fillRect/>
          </a:stretch>
        </p:blipFill>
        <p:spPr>
          <a:xfrm>
            <a:off x="6141660" y="5234166"/>
            <a:ext cx="296942" cy="371118"/>
          </a:xfrm>
          <a:prstGeom prst="rect">
            <a:avLst/>
          </a:prstGeom>
        </p:spPr>
      </p:pic>
      <p:sp>
        <p:nvSpPr>
          <p:cNvPr id="23" name="Text 11"/>
          <p:cNvSpPr/>
          <p:nvPr/>
        </p:nvSpPr>
        <p:spPr>
          <a:xfrm>
            <a:off x="2154912" y="3820597"/>
            <a:ext cx="2480905" cy="310158"/>
          </a:xfrm>
          <a:prstGeom prst="rect">
            <a:avLst/>
          </a:prstGeom>
          <a:noFill/>
          <a:ln/>
        </p:spPr>
        <p:txBody>
          <a:bodyPr wrap="none" lIns="0" tIns="0" rIns="0" bIns="0" rtlCol="0" anchor="t"/>
          <a:lstStyle/>
          <a:p>
            <a:pPr marL="0" indent="0" algn="r">
              <a:lnSpc>
                <a:spcPts val="2400"/>
              </a:lnSpc>
              <a:buNone/>
            </a:pPr>
            <a:r>
              <a:rPr lang="en-US" sz="1950" dirty="0">
                <a:solidFill>
                  <a:srgbClr val="6F655D"/>
                </a:solidFill>
                <a:latin typeface="Playfair Display Semi Bold" pitchFamily="34" charset="0"/>
                <a:ea typeface="Playfair Display Semi Bold" pitchFamily="34" charset="-122"/>
                <a:cs typeface="Playfair Display Semi Bold" pitchFamily="34" charset="-120"/>
              </a:rPr>
              <a:t>Responsive Support</a:t>
            </a:r>
            <a:endParaRPr lang="en-US" sz="1950" dirty="0"/>
          </a:p>
        </p:txBody>
      </p:sp>
      <p:sp>
        <p:nvSpPr>
          <p:cNvPr id="24" name="Text 12"/>
          <p:cNvSpPr/>
          <p:nvPr/>
        </p:nvSpPr>
        <p:spPr>
          <a:xfrm>
            <a:off x="793790" y="4249817"/>
            <a:ext cx="3842028" cy="635079"/>
          </a:xfrm>
          <a:prstGeom prst="rect">
            <a:avLst/>
          </a:prstGeom>
          <a:noFill/>
          <a:ln/>
        </p:spPr>
        <p:txBody>
          <a:bodyPr wrap="square" lIns="0" tIns="0" rIns="0" bIns="0" rtlCol="0" anchor="t"/>
          <a:lstStyle/>
          <a:p>
            <a:pPr marL="0" indent="0" algn="r">
              <a:lnSpc>
                <a:spcPts val="2500"/>
              </a:lnSpc>
              <a:buNone/>
            </a:pPr>
            <a:r>
              <a:rPr lang="en-US" sz="1550" dirty="0">
                <a:solidFill>
                  <a:srgbClr val="6F655D"/>
                </a:solidFill>
                <a:latin typeface="Public Sans" pitchFamily="34" charset="0"/>
                <a:ea typeface="Public Sans" pitchFamily="34" charset="-122"/>
                <a:cs typeface="Public Sans" pitchFamily="34" charset="-120"/>
              </a:rPr>
              <a:t>Dedicated account management and prompt issue resolution</a:t>
            </a:r>
            <a:endParaRPr lang="en-US" sz="1550" dirty="0"/>
          </a:p>
        </p:txBody>
      </p:sp>
      <p:pic>
        <p:nvPicPr>
          <p:cNvPr id="25" name="Image 10" descr="preencoded.png"/>
          <p:cNvPicPr>
            <a:picLocks noChangeAspect="1"/>
          </p:cNvPicPr>
          <p:nvPr/>
        </p:nvPicPr>
        <p:blipFill>
          <a:blip r:embed="rId13"/>
          <a:stretch>
            <a:fillRect/>
          </a:stretch>
        </p:blipFill>
        <p:spPr>
          <a:xfrm>
            <a:off x="5032653" y="1911548"/>
            <a:ext cx="4564975" cy="4564975"/>
          </a:xfrm>
          <a:prstGeom prst="rect">
            <a:avLst/>
          </a:prstGeom>
        </p:spPr>
      </p:pic>
      <p:pic>
        <p:nvPicPr>
          <p:cNvPr id="26" name="Image 11" descr="preencoded.png"/>
          <p:cNvPicPr>
            <a:picLocks noChangeAspect="1"/>
          </p:cNvPicPr>
          <p:nvPr/>
        </p:nvPicPr>
        <p:blipFill>
          <a:blip r:embed="rId14"/>
          <a:stretch>
            <a:fillRect/>
          </a:stretch>
        </p:blipFill>
        <p:spPr>
          <a:xfrm>
            <a:off x="5592544" y="3733740"/>
            <a:ext cx="296942" cy="371118"/>
          </a:xfrm>
          <a:prstGeom prst="rect">
            <a:avLst/>
          </a:prstGeom>
        </p:spPr>
      </p:pic>
      <p:sp>
        <p:nvSpPr>
          <p:cNvPr id="27" name="Text 13"/>
          <p:cNvSpPr/>
          <p:nvPr/>
        </p:nvSpPr>
        <p:spPr>
          <a:xfrm>
            <a:off x="793790" y="6699766"/>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These distinguishing factors combine to deliver a service experience that goes beyond basic facility management. We create partnerships that drive value, enhance performance, and contribute to your organisational success.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198721"/>
            <a:ext cx="6695837" cy="620078"/>
          </a:xfrm>
          <a:prstGeom prst="rect">
            <a:avLst/>
          </a:prstGeom>
          <a:noFill/>
          <a:ln/>
        </p:spPr>
        <p:txBody>
          <a:bodyPr wrap="none" lIns="0" tIns="0" rIns="0" bIns="0" rtlCol="0" anchor="t"/>
          <a:lstStyle/>
          <a:p>
            <a:pPr marL="0" indent="0" algn="l">
              <a:lnSpc>
                <a:spcPts val="4850"/>
              </a:lnSpc>
              <a:buNone/>
            </a:pPr>
            <a:r>
              <a:rPr lang="en-US" sz="3900" dirty="0">
                <a:solidFill>
                  <a:srgbClr val="4B6981"/>
                </a:solidFill>
                <a:latin typeface="Playfair Display Semi Bold" pitchFamily="34" charset="0"/>
                <a:ea typeface="Playfair Display Semi Bold" pitchFamily="34" charset="-122"/>
                <a:cs typeface="Playfair Display Semi Bold" pitchFamily="34" charset="-120"/>
              </a:rPr>
              <a:t>Our Commitment to Integrity</a:t>
            </a:r>
            <a:endParaRPr lang="en-US" sz="3900" dirty="0"/>
          </a:p>
        </p:txBody>
      </p:sp>
      <p:sp>
        <p:nvSpPr>
          <p:cNvPr id="3" name="Text 1"/>
          <p:cNvSpPr/>
          <p:nvPr/>
        </p:nvSpPr>
        <p:spPr>
          <a:xfrm>
            <a:off x="1091446" y="2438876"/>
            <a:ext cx="12745164" cy="317540"/>
          </a:xfrm>
          <a:prstGeom prst="rect">
            <a:avLst/>
          </a:prstGeom>
          <a:noFill/>
          <a:ln/>
        </p:spPr>
        <p:txBody>
          <a:bodyPr wrap="non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At UK Facility Management Services, integrity is not just a value—it is the foundation of our relationships and reputation.</a:t>
            </a:r>
            <a:endParaRPr lang="en-US" sz="1550" dirty="0"/>
          </a:p>
        </p:txBody>
      </p:sp>
      <p:sp>
        <p:nvSpPr>
          <p:cNvPr id="4" name="Shape 2"/>
          <p:cNvSpPr/>
          <p:nvPr/>
        </p:nvSpPr>
        <p:spPr>
          <a:xfrm>
            <a:off x="793790" y="2215634"/>
            <a:ext cx="22860" cy="764024"/>
          </a:xfrm>
          <a:prstGeom prst="rect">
            <a:avLst/>
          </a:prstGeom>
          <a:solidFill>
            <a:srgbClr val="E1C2C2"/>
          </a:solidFill>
          <a:ln/>
        </p:spPr>
      </p:sp>
      <p:sp>
        <p:nvSpPr>
          <p:cNvPr id="5" name="Text 3"/>
          <p:cNvSpPr/>
          <p:nvPr/>
        </p:nvSpPr>
        <p:spPr>
          <a:xfrm>
            <a:off x="793790" y="320290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We ensure that every task, no matter how small, is carried out with transparency, respect, and accountability. Our commitment to operational excellence and ethical service delivery has earned us the confidence of our clients and partners alike.</a:t>
            </a:r>
            <a:endParaRPr lang="en-US" sz="1550" dirty="0"/>
          </a:p>
        </p:txBody>
      </p:sp>
      <p:sp>
        <p:nvSpPr>
          <p:cNvPr id="6" name="Shape 4"/>
          <p:cNvSpPr/>
          <p:nvPr/>
        </p:nvSpPr>
        <p:spPr>
          <a:xfrm>
            <a:off x="793790" y="4061222"/>
            <a:ext cx="4215289" cy="1793796"/>
          </a:xfrm>
          <a:prstGeom prst="roundRect">
            <a:avLst>
              <a:gd name="adj" fmla="val 4647"/>
            </a:avLst>
          </a:prstGeom>
          <a:solidFill>
            <a:srgbClr val="E1C2C2">
              <a:alpha val="50000"/>
            </a:srgbClr>
          </a:solidFill>
          <a:ln w="7620">
            <a:solidFill>
              <a:srgbClr val="C7A8A8"/>
            </a:solidFill>
            <a:prstDash val="solid"/>
          </a:ln>
          <a:effectLst>
            <a:outerShdw dist="17780" dir="2700000" algn="bl" rotWithShape="0">
              <a:srgbClr val="C7A8A8">
                <a:alpha val="100000"/>
              </a:srgbClr>
            </a:outerShdw>
          </a:effectLst>
        </p:spPr>
      </p:sp>
      <p:sp>
        <p:nvSpPr>
          <p:cNvPr id="7" name="Text 5"/>
          <p:cNvSpPr/>
          <p:nvPr/>
        </p:nvSpPr>
        <p:spPr>
          <a:xfrm>
            <a:off x="999768" y="4267200"/>
            <a:ext cx="2739747"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layfair Display Semi Bold" pitchFamily="34" charset="0"/>
                <a:ea typeface="Playfair Display Semi Bold" pitchFamily="34" charset="-122"/>
                <a:cs typeface="Playfair Display Semi Bold" pitchFamily="34" charset="-120"/>
              </a:rPr>
              <a:t>Transparent Operations</a:t>
            </a:r>
            <a:endParaRPr lang="en-US" sz="1950" dirty="0"/>
          </a:p>
        </p:txBody>
      </p:sp>
      <p:sp>
        <p:nvSpPr>
          <p:cNvPr id="8" name="Text 6"/>
          <p:cNvSpPr/>
          <p:nvPr/>
        </p:nvSpPr>
        <p:spPr>
          <a:xfrm>
            <a:off x="999768" y="4696420"/>
            <a:ext cx="3803333"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Public Sans" pitchFamily="34" charset="0"/>
                <a:ea typeface="Public Sans" pitchFamily="34" charset="-122"/>
                <a:cs typeface="Public Sans" pitchFamily="34" charset="-120"/>
              </a:rPr>
              <a:t>Clear communication, honest reporting, and open dialogue at every stage of service delivery.</a:t>
            </a:r>
            <a:endParaRPr lang="en-US" sz="1550" dirty="0"/>
          </a:p>
        </p:txBody>
      </p:sp>
      <p:sp>
        <p:nvSpPr>
          <p:cNvPr id="9" name="Shape 7"/>
          <p:cNvSpPr/>
          <p:nvPr/>
        </p:nvSpPr>
        <p:spPr>
          <a:xfrm>
            <a:off x="5207437" y="4061222"/>
            <a:ext cx="4215408" cy="1793796"/>
          </a:xfrm>
          <a:prstGeom prst="roundRect">
            <a:avLst>
              <a:gd name="adj" fmla="val 4647"/>
            </a:avLst>
          </a:prstGeom>
          <a:solidFill>
            <a:srgbClr val="CCC4EC">
              <a:alpha val="50000"/>
            </a:srgbClr>
          </a:solidFill>
          <a:ln w="7620">
            <a:solidFill>
              <a:srgbClr val="B2AAD2"/>
            </a:solidFill>
            <a:prstDash val="solid"/>
          </a:ln>
          <a:effectLst>
            <a:outerShdw dist="17780" dir="2700000" algn="bl" rotWithShape="0">
              <a:srgbClr val="B2AAD2">
                <a:alpha val="100000"/>
              </a:srgbClr>
            </a:outerShdw>
          </a:effectLst>
        </p:spPr>
      </p:sp>
      <p:sp>
        <p:nvSpPr>
          <p:cNvPr id="10" name="Text 8"/>
          <p:cNvSpPr/>
          <p:nvPr/>
        </p:nvSpPr>
        <p:spPr>
          <a:xfrm>
            <a:off x="5413415" y="426720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layfair Display Semi Bold" pitchFamily="34" charset="0"/>
                <a:ea typeface="Playfair Display Semi Bold" pitchFamily="34" charset="-122"/>
                <a:cs typeface="Playfair Display Semi Bold" pitchFamily="34" charset="-120"/>
              </a:rPr>
              <a:t>Ethical Conduct</a:t>
            </a:r>
            <a:endParaRPr lang="en-US" sz="1950" dirty="0"/>
          </a:p>
        </p:txBody>
      </p:sp>
      <p:sp>
        <p:nvSpPr>
          <p:cNvPr id="11" name="Text 9"/>
          <p:cNvSpPr/>
          <p:nvPr/>
        </p:nvSpPr>
        <p:spPr>
          <a:xfrm>
            <a:off x="5413415" y="4696420"/>
            <a:ext cx="3803452"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Public Sans" pitchFamily="34" charset="0"/>
                <a:ea typeface="Public Sans" pitchFamily="34" charset="-122"/>
                <a:cs typeface="Public Sans" pitchFamily="34" charset="-120"/>
              </a:rPr>
              <a:t>Strict adherence to professional standards and regulatory requirements across all operations.</a:t>
            </a:r>
            <a:endParaRPr lang="en-US" sz="1550" dirty="0"/>
          </a:p>
        </p:txBody>
      </p:sp>
      <p:sp>
        <p:nvSpPr>
          <p:cNvPr id="12" name="Shape 10"/>
          <p:cNvSpPr/>
          <p:nvPr/>
        </p:nvSpPr>
        <p:spPr>
          <a:xfrm>
            <a:off x="9621203" y="4061222"/>
            <a:ext cx="4215289" cy="1793796"/>
          </a:xfrm>
          <a:prstGeom prst="roundRect">
            <a:avLst>
              <a:gd name="adj" fmla="val 4647"/>
            </a:avLst>
          </a:prstGeom>
          <a:solidFill>
            <a:srgbClr val="B4DAE4">
              <a:alpha val="50000"/>
            </a:srgbClr>
          </a:solidFill>
          <a:ln w="7620">
            <a:solidFill>
              <a:srgbClr val="9AC0CA"/>
            </a:solidFill>
            <a:prstDash val="solid"/>
          </a:ln>
          <a:effectLst>
            <a:outerShdw dist="17780" dir="2700000" algn="bl" rotWithShape="0">
              <a:srgbClr val="9AC0CA">
                <a:alpha val="100000"/>
              </a:srgbClr>
            </a:outerShdw>
          </a:effectLst>
        </p:spPr>
      </p:sp>
      <p:sp>
        <p:nvSpPr>
          <p:cNvPr id="13" name="Text 11"/>
          <p:cNvSpPr/>
          <p:nvPr/>
        </p:nvSpPr>
        <p:spPr>
          <a:xfrm>
            <a:off x="9827181" y="426720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layfair Display Semi Bold" pitchFamily="34" charset="0"/>
                <a:ea typeface="Playfair Display Semi Bold" pitchFamily="34" charset="-122"/>
                <a:cs typeface="Playfair Display Semi Bold" pitchFamily="34" charset="-120"/>
              </a:rPr>
              <a:t>Accountable Service</a:t>
            </a:r>
            <a:endParaRPr lang="en-US" sz="1950" dirty="0"/>
          </a:p>
        </p:txBody>
      </p:sp>
      <p:sp>
        <p:nvSpPr>
          <p:cNvPr id="14" name="Text 12"/>
          <p:cNvSpPr/>
          <p:nvPr/>
        </p:nvSpPr>
        <p:spPr>
          <a:xfrm>
            <a:off x="9827181" y="4696420"/>
            <a:ext cx="3803333"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Public Sans" pitchFamily="34" charset="0"/>
                <a:ea typeface="Public Sans" pitchFamily="34" charset="-122"/>
                <a:cs typeface="Public Sans" pitchFamily="34" charset="-120"/>
              </a:rPr>
              <a:t>Taking responsibility for outcomes and continuously improving based on feedback and performance metrics.</a:t>
            </a:r>
            <a:endParaRPr lang="en-US" sz="1550" dirty="0"/>
          </a:p>
        </p:txBody>
      </p:sp>
      <p:sp>
        <p:nvSpPr>
          <p:cNvPr id="15" name="Text 13"/>
          <p:cNvSpPr/>
          <p:nvPr/>
        </p:nvSpPr>
        <p:spPr>
          <a:xfrm>
            <a:off x="793790" y="6078260"/>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This unwavering commitment to integrity ensures that when you partner with UK Facility Management Services, you're working with an organisation that values your trust as much as your business. We build relationships that stand the test of time, founded on mutual respect and shared success.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13053" y="421481"/>
            <a:ext cx="4143732" cy="478988"/>
          </a:xfrm>
          <a:prstGeom prst="rect">
            <a:avLst/>
          </a:prstGeom>
          <a:noFill/>
          <a:ln/>
        </p:spPr>
        <p:txBody>
          <a:bodyPr wrap="none" lIns="0" tIns="0" rIns="0" bIns="0" rtlCol="0" anchor="t"/>
          <a:lstStyle/>
          <a:p>
            <a:pPr marL="0" indent="0" algn="l">
              <a:lnSpc>
                <a:spcPts val="3750"/>
              </a:lnSpc>
              <a:buNone/>
            </a:pPr>
            <a:r>
              <a:rPr lang="en-US" sz="3000" dirty="0">
                <a:solidFill>
                  <a:srgbClr val="4B6981"/>
                </a:solidFill>
                <a:latin typeface="Playfair Display Semi Bold" pitchFamily="34" charset="0"/>
                <a:ea typeface="Playfair Display Semi Bold" pitchFamily="34" charset="-122"/>
                <a:cs typeface="Playfair Display Semi Bold" pitchFamily="34" charset="-120"/>
              </a:rPr>
              <a:t>Partner with Excellence</a:t>
            </a:r>
            <a:endParaRPr lang="en-US" sz="3000" dirty="0"/>
          </a:p>
        </p:txBody>
      </p:sp>
      <p:sp>
        <p:nvSpPr>
          <p:cNvPr id="3" name="Text 1"/>
          <p:cNvSpPr/>
          <p:nvPr/>
        </p:nvSpPr>
        <p:spPr>
          <a:xfrm>
            <a:off x="613053" y="1283613"/>
            <a:ext cx="4293870" cy="287298"/>
          </a:xfrm>
          <a:prstGeom prst="rect">
            <a:avLst/>
          </a:prstGeom>
          <a:noFill/>
          <a:ln/>
        </p:spPr>
        <p:txBody>
          <a:bodyPr wrap="none" lIns="0" tIns="0" rIns="0" bIns="0" rtlCol="0" anchor="t"/>
          <a:lstStyle/>
          <a:p>
            <a:pPr marL="0" indent="0" algn="l">
              <a:lnSpc>
                <a:spcPts val="2250"/>
              </a:lnSpc>
              <a:buNone/>
            </a:pPr>
            <a:r>
              <a:rPr lang="en-US" sz="1800" dirty="0">
                <a:solidFill>
                  <a:srgbClr val="4B6981"/>
                </a:solidFill>
                <a:latin typeface="Playfair Display Semi Bold" pitchFamily="34" charset="0"/>
                <a:ea typeface="Playfair Display Semi Bold" pitchFamily="34" charset="-122"/>
                <a:cs typeface="Playfair Display Semi Bold" pitchFamily="34" charset="-120"/>
              </a:rPr>
              <a:t>Ready to Elevate Your Facility Standards?</a:t>
            </a:r>
            <a:endParaRPr lang="en-US" sz="1800" dirty="0"/>
          </a:p>
        </p:txBody>
      </p:sp>
      <p:sp>
        <p:nvSpPr>
          <p:cNvPr id="4" name="Text 2"/>
          <p:cNvSpPr/>
          <p:nvPr/>
        </p:nvSpPr>
        <p:spPr>
          <a:xfrm>
            <a:off x="613053" y="1724144"/>
            <a:ext cx="7893010" cy="735449"/>
          </a:xfrm>
          <a:prstGeom prst="rect">
            <a:avLst/>
          </a:prstGeom>
          <a:noFill/>
          <a:ln/>
        </p:spPr>
        <p:txBody>
          <a:bodyPr wrap="square" lIns="0" tIns="0" rIns="0" bIns="0" rtlCol="0" anchor="t"/>
          <a:lstStyle/>
          <a:p>
            <a:pPr marL="0" indent="0" algn="l">
              <a:lnSpc>
                <a:spcPts val="1900"/>
              </a:lnSpc>
              <a:buNone/>
            </a:pPr>
            <a:r>
              <a:rPr lang="en-US" sz="1200" dirty="0">
                <a:solidFill>
                  <a:srgbClr val="6F655D"/>
                </a:solidFill>
                <a:latin typeface="Public Sans" pitchFamily="34" charset="0"/>
                <a:ea typeface="Public Sans" pitchFamily="34" charset="-122"/>
                <a:cs typeface="Public Sans" pitchFamily="34" charset="-120"/>
              </a:rPr>
              <a:t>Whether you're managing a corporate office, educational institution, healthcare facility, or industrial unit, UK Facility Management Services has the expertise, resources, and commitment to transform your workplace environment.</a:t>
            </a:r>
            <a:endParaRPr lang="en-US" sz="1200" dirty="0"/>
          </a:p>
        </p:txBody>
      </p:sp>
      <p:sp>
        <p:nvSpPr>
          <p:cNvPr id="5" name="Text 3"/>
          <p:cNvSpPr/>
          <p:nvPr/>
        </p:nvSpPr>
        <p:spPr>
          <a:xfrm>
            <a:off x="613053" y="2597468"/>
            <a:ext cx="7893010" cy="735449"/>
          </a:xfrm>
          <a:prstGeom prst="rect">
            <a:avLst/>
          </a:prstGeom>
          <a:noFill/>
          <a:ln/>
        </p:spPr>
        <p:txBody>
          <a:bodyPr wrap="square" lIns="0" tIns="0" rIns="0" bIns="0" rtlCol="0" anchor="t"/>
          <a:lstStyle/>
          <a:p>
            <a:pPr marL="0" indent="0" algn="l">
              <a:lnSpc>
                <a:spcPts val="1900"/>
              </a:lnSpc>
              <a:buNone/>
            </a:pPr>
            <a:r>
              <a:rPr lang="en-US" sz="1200" dirty="0">
                <a:solidFill>
                  <a:srgbClr val="6F655D"/>
                </a:solidFill>
                <a:latin typeface="Public Sans" pitchFamily="34" charset="0"/>
                <a:ea typeface="Public Sans" pitchFamily="34" charset="-122"/>
                <a:cs typeface="Public Sans" pitchFamily="34" charset="-120"/>
              </a:rPr>
              <a:t>Our team of dedicated professionals is ready to understand your unique requirements and develop a customised facility management solution that aligns with your operational goals, budget constraints, and quality expectations.</a:t>
            </a:r>
            <a:endParaRPr lang="en-US" sz="1200" dirty="0"/>
          </a:p>
        </p:txBody>
      </p:sp>
      <p:sp>
        <p:nvSpPr>
          <p:cNvPr id="6" name="Text 4"/>
          <p:cNvSpPr/>
          <p:nvPr/>
        </p:nvSpPr>
        <p:spPr>
          <a:xfrm>
            <a:off x="613053" y="3486150"/>
            <a:ext cx="1916073" cy="239435"/>
          </a:xfrm>
          <a:prstGeom prst="rect">
            <a:avLst/>
          </a:prstGeom>
          <a:noFill/>
          <a:ln/>
        </p:spPr>
        <p:txBody>
          <a:bodyPr wrap="none" lIns="0" tIns="0" rIns="0" bIns="0" rtlCol="0" anchor="t"/>
          <a:lstStyle/>
          <a:p>
            <a:pPr marL="0" indent="0" algn="l">
              <a:lnSpc>
                <a:spcPts val="1850"/>
              </a:lnSpc>
              <a:buNone/>
            </a:pPr>
            <a:r>
              <a:rPr lang="en-US" sz="1500" dirty="0">
                <a:solidFill>
                  <a:srgbClr val="4B6981"/>
                </a:solidFill>
                <a:latin typeface="Playfair Display Semi Bold" pitchFamily="34" charset="0"/>
                <a:ea typeface="Playfair Display Semi Bold" pitchFamily="34" charset="-122"/>
                <a:cs typeface="Playfair Display Semi Bold" pitchFamily="34" charset="-120"/>
              </a:rPr>
              <a:t>Why Choose Us?</a:t>
            </a:r>
            <a:endParaRPr lang="en-US" sz="1500" dirty="0"/>
          </a:p>
        </p:txBody>
      </p:sp>
      <p:sp>
        <p:nvSpPr>
          <p:cNvPr id="7" name="Text 5"/>
          <p:cNvSpPr/>
          <p:nvPr/>
        </p:nvSpPr>
        <p:spPr>
          <a:xfrm>
            <a:off x="613053" y="3878818"/>
            <a:ext cx="7893010" cy="245150"/>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6F655D"/>
                </a:solidFill>
                <a:latin typeface="Public Sans" pitchFamily="34" charset="0"/>
                <a:ea typeface="Public Sans" pitchFamily="34" charset="-122"/>
                <a:cs typeface="Public Sans" pitchFamily="34" charset="-120"/>
              </a:rPr>
              <a:t>Proven track record across multiple industries</a:t>
            </a:r>
            <a:endParaRPr lang="en-US" sz="1200" dirty="0"/>
          </a:p>
        </p:txBody>
      </p:sp>
      <p:sp>
        <p:nvSpPr>
          <p:cNvPr id="8" name="Text 6"/>
          <p:cNvSpPr/>
          <p:nvPr/>
        </p:nvSpPr>
        <p:spPr>
          <a:xfrm>
            <a:off x="613053" y="4177546"/>
            <a:ext cx="7893010" cy="245150"/>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6F655D"/>
                </a:solidFill>
                <a:latin typeface="Public Sans" pitchFamily="34" charset="0"/>
                <a:ea typeface="Public Sans" pitchFamily="34" charset="-122"/>
                <a:cs typeface="Public Sans" pitchFamily="34" charset="-120"/>
              </a:rPr>
              <a:t>Comprehensive service portfolio under one roof</a:t>
            </a:r>
            <a:endParaRPr lang="en-US" sz="1200" dirty="0"/>
          </a:p>
        </p:txBody>
      </p:sp>
      <p:sp>
        <p:nvSpPr>
          <p:cNvPr id="9" name="Text 7"/>
          <p:cNvSpPr/>
          <p:nvPr/>
        </p:nvSpPr>
        <p:spPr>
          <a:xfrm>
            <a:off x="613053" y="4476274"/>
            <a:ext cx="7893010" cy="245150"/>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6F655D"/>
                </a:solidFill>
                <a:latin typeface="Public Sans" pitchFamily="34" charset="0"/>
                <a:ea typeface="Public Sans" pitchFamily="34" charset="-122"/>
                <a:cs typeface="Public Sans" pitchFamily="34" charset="-120"/>
              </a:rPr>
              <a:t>Trained, vetted, and professional staff</a:t>
            </a:r>
            <a:endParaRPr lang="en-US" sz="1200" dirty="0"/>
          </a:p>
        </p:txBody>
      </p:sp>
      <p:sp>
        <p:nvSpPr>
          <p:cNvPr id="10" name="Text 8"/>
          <p:cNvSpPr/>
          <p:nvPr/>
        </p:nvSpPr>
        <p:spPr>
          <a:xfrm>
            <a:off x="613053" y="4775002"/>
            <a:ext cx="7893010" cy="245150"/>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6F655D"/>
                </a:solidFill>
                <a:latin typeface="Public Sans" pitchFamily="34" charset="0"/>
                <a:ea typeface="Public Sans" pitchFamily="34" charset="-122"/>
                <a:cs typeface="Public Sans" pitchFamily="34" charset="-120"/>
              </a:rPr>
              <a:t>Flexible, scalable solutions that grow with your needs</a:t>
            </a:r>
            <a:endParaRPr lang="en-US" sz="1200" dirty="0"/>
          </a:p>
        </p:txBody>
      </p:sp>
      <p:sp>
        <p:nvSpPr>
          <p:cNvPr id="11" name="Text 9"/>
          <p:cNvSpPr/>
          <p:nvPr/>
        </p:nvSpPr>
        <p:spPr>
          <a:xfrm>
            <a:off x="613053" y="5073729"/>
            <a:ext cx="7893010" cy="245150"/>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6F655D"/>
                </a:solidFill>
                <a:latin typeface="Public Sans" pitchFamily="34" charset="0"/>
                <a:ea typeface="Public Sans" pitchFamily="34" charset="-122"/>
                <a:cs typeface="Public Sans" pitchFamily="34" charset="-120"/>
              </a:rPr>
              <a:t>Commitment to sustainability and eco-friendly practises</a:t>
            </a:r>
            <a:endParaRPr lang="en-US" sz="1200" dirty="0"/>
          </a:p>
        </p:txBody>
      </p:sp>
      <p:sp>
        <p:nvSpPr>
          <p:cNvPr id="12" name="Text 10"/>
          <p:cNvSpPr/>
          <p:nvPr/>
        </p:nvSpPr>
        <p:spPr>
          <a:xfrm>
            <a:off x="613053" y="5372457"/>
            <a:ext cx="7893010" cy="245150"/>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6F655D"/>
                </a:solidFill>
                <a:latin typeface="Public Sans" pitchFamily="34" charset="0"/>
                <a:ea typeface="Public Sans" pitchFamily="34" charset="-122"/>
                <a:cs typeface="Public Sans" pitchFamily="34" charset="-120"/>
              </a:rPr>
              <a:t>Transparent pricing and reliable service delivery</a:t>
            </a:r>
            <a:endParaRPr lang="en-US" sz="1200" dirty="0"/>
          </a:p>
        </p:txBody>
      </p:sp>
      <p:sp>
        <p:nvSpPr>
          <p:cNvPr id="13" name="Text 11"/>
          <p:cNvSpPr/>
          <p:nvPr/>
        </p:nvSpPr>
        <p:spPr>
          <a:xfrm>
            <a:off x="613053" y="5671185"/>
            <a:ext cx="7893010" cy="245150"/>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6F655D"/>
                </a:solidFill>
                <a:latin typeface="Public Sans" pitchFamily="34" charset="0"/>
                <a:ea typeface="Public Sans" pitchFamily="34" charset="-122"/>
                <a:cs typeface="Public Sans" pitchFamily="34" charset="-120"/>
              </a:rPr>
              <a:t>Dedicated account management and support</a:t>
            </a:r>
            <a:endParaRPr lang="en-US" sz="1200" dirty="0"/>
          </a:p>
        </p:txBody>
      </p:sp>
      <p:sp>
        <p:nvSpPr>
          <p:cNvPr id="14" name="Text 12"/>
          <p:cNvSpPr/>
          <p:nvPr/>
        </p:nvSpPr>
        <p:spPr>
          <a:xfrm>
            <a:off x="613053" y="6054209"/>
            <a:ext cx="7893010" cy="490299"/>
          </a:xfrm>
          <a:prstGeom prst="rect">
            <a:avLst/>
          </a:prstGeom>
          <a:noFill/>
          <a:ln/>
        </p:spPr>
        <p:txBody>
          <a:bodyPr wrap="square" lIns="0" tIns="0" rIns="0" bIns="0" rtlCol="0" anchor="t"/>
          <a:lstStyle/>
          <a:p>
            <a:pPr marL="0" indent="0" algn="l">
              <a:lnSpc>
                <a:spcPts val="1900"/>
              </a:lnSpc>
              <a:buNone/>
            </a:pPr>
            <a:r>
              <a:rPr lang="en-US" sz="1200" dirty="0">
                <a:solidFill>
                  <a:srgbClr val="6F655D"/>
                </a:solidFill>
                <a:latin typeface="Public Sans" pitchFamily="34" charset="0"/>
                <a:ea typeface="Public Sans" pitchFamily="34" charset="-122"/>
                <a:cs typeface="Public Sans" pitchFamily="34" charset="-120"/>
              </a:rPr>
              <a:t>Let us help you create a workplace that reflects professionalism, enhances productivity, and instils pride in everyone who enters your facility.</a:t>
            </a:r>
            <a:endParaRPr lang="en-US" sz="1200" dirty="0"/>
          </a:p>
        </p:txBody>
      </p:sp>
      <p:pic>
        <p:nvPicPr>
          <p:cNvPr id="15" name="Image 0" descr="preencoded.png"/>
          <p:cNvPicPr>
            <a:picLocks noChangeAspect="1"/>
          </p:cNvPicPr>
          <p:nvPr/>
        </p:nvPicPr>
        <p:blipFill>
          <a:blip r:embed="rId3"/>
          <a:stretch>
            <a:fillRect/>
          </a:stretch>
        </p:blipFill>
        <p:spPr>
          <a:xfrm>
            <a:off x="8887539" y="1302782"/>
            <a:ext cx="5137309" cy="5137309"/>
          </a:xfrm>
          <a:prstGeom prst="rect">
            <a:avLst/>
          </a:prstGeom>
        </p:spPr>
      </p:pic>
      <p:sp>
        <p:nvSpPr>
          <p:cNvPr id="16" name="Shape 13"/>
          <p:cNvSpPr/>
          <p:nvPr/>
        </p:nvSpPr>
        <p:spPr>
          <a:xfrm>
            <a:off x="8887539" y="6612493"/>
            <a:ext cx="5137309" cy="1534001"/>
          </a:xfrm>
          <a:prstGeom prst="roundRect">
            <a:avLst>
              <a:gd name="adj" fmla="val 4197"/>
            </a:avLst>
          </a:prstGeom>
          <a:solidFill>
            <a:srgbClr val="E6CCCC"/>
          </a:solidFill>
          <a:ln/>
        </p:spPr>
      </p:sp>
      <p:pic>
        <p:nvPicPr>
          <p:cNvPr id="17" name="Image 1" descr="preencoded.png"/>
          <p:cNvPicPr>
            <a:picLocks noChangeAspect="1"/>
          </p:cNvPicPr>
          <p:nvPr/>
        </p:nvPicPr>
        <p:blipFill>
          <a:blip r:embed="rId4"/>
          <a:stretch>
            <a:fillRect/>
          </a:stretch>
        </p:blipFill>
        <p:spPr>
          <a:xfrm>
            <a:off x="9040773" y="6834426"/>
            <a:ext cx="239435" cy="191572"/>
          </a:xfrm>
          <a:prstGeom prst="rect">
            <a:avLst/>
          </a:prstGeom>
        </p:spPr>
      </p:pic>
      <p:sp>
        <p:nvSpPr>
          <p:cNvPr id="18" name="Text 14"/>
          <p:cNvSpPr/>
          <p:nvPr/>
        </p:nvSpPr>
        <p:spPr>
          <a:xfrm>
            <a:off x="9433441" y="6803946"/>
            <a:ext cx="1916073" cy="239435"/>
          </a:xfrm>
          <a:prstGeom prst="rect">
            <a:avLst/>
          </a:prstGeom>
          <a:noFill/>
          <a:ln/>
        </p:spPr>
        <p:txBody>
          <a:bodyPr wrap="none" lIns="0" tIns="0" rIns="0" bIns="0" rtlCol="0" anchor="t"/>
          <a:lstStyle/>
          <a:p>
            <a:pPr marL="0" indent="0" algn="l">
              <a:lnSpc>
                <a:spcPts val="1850"/>
              </a:lnSpc>
              <a:buNone/>
            </a:pPr>
            <a:r>
              <a:rPr lang="en-US" sz="1500" dirty="0">
                <a:solidFill>
                  <a:srgbClr val="000000"/>
                </a:solidFill>
                <a:latin typeface="Playfair Display Semi Bold" pitchFamily="34" charset="0"/>
                <a:ea typeface="Playfair Display Semi Bold" pitchFamily="34" charset="-122"/>
                <a:cs typeface="Playfair Display Semi Bold" pitchFamily="34" charset="-120"/>
              </a:rPr>
              <a:t>Get in Touch</a:t>
            </a:r>
            <a:endParaRPr lang="en-US" sz="1500" dirty="0"/>
          </a:p>
        </p:txBody>
      </p:sp>
      <p:sp>
        <p:nvSpPr>
          <p:cNvPr id="19" name="Text 15"/>
          <p:cNvSpPr/>
          <p:nvPr/>
        </p:nvSpPr>
        <p:spPr>
          <a:xfrm>
            <a:off x="9433441" y="7196614"/>
            <a:ext cx="4438174" cy="735449"/>
          </a:xfrm>
          <a:prstGeom prst="rect">
            <a:avLst/>
          </a:prstGeom>
          <a:noFill/>
          <a:ln/>
        </p:spPr>
        <p:txBody>
          <a:bodyPr wrap="square" lIns="0" tIns="0" rIns="0" bIns="0" rtlCol="0" anchor="t"/>
          <a:lstStyle/>
          <a:p>
            <a:pPr marL="0" indent="0" algn="l">
              <a:lnSpc>
                <a:spcPts val="1900"/>
              </a:lnSpc>
              <a:buNone/>
            </a:pPr>
            <a:r>
              <a:rPr lang="en-US" sz="1200" dirty="0">
                <a:solidFill>
                  <a:srgbClr val="000000"/>
                </a:solidFill>
                <a:latin typeface="Public Sans" pitchFamily="34" charset="0"/>
                <a:ea typeface="Public Sans" pitchFamily="34" charset="-122"/>
                <a:cs typeface="Public Sans" pitchFamily="34" charset="-120"/>
              </a:rPr>
              <a:t>Contact us today to discuss your facility management needs and discover how we can support your organisation's success through exceptional service delivery.</a:t>
            </a:r>
            <a:endParaRPr lang="en-US" sz="1200" dirty="0"/>
          </a:p>
        </p:txBody>
      </p:sp>
      <p:pic>
        <p:nvPicPr>
          <p:cNvPr id="23" name="Picture 22">
            <a:extLst>
              <a:ext uri="{FF2B5EF4-FFF2-40B4-BE49-F238E27FC236}">
                <a16:creationId xmlns:a16="http://schemas.microsoft.com/office/drawing/2014/main" id="{7D213106-04DE-D908-B7CB-2B99A52F884F}"/>
              </a:ext>
            </a:extLst>
          </p:cNvPr>
          <p:cNvPicPr>
            <a:picLocks noChangeAspect="1"/>
          </p:cNvPicPr>
          <p:nvPr/>
        </p:nvPicPr>
        <p:blipFill>
          <a:blip r:embed="rId5"/>
          <a:stretch>
            <a:fillRect/>
          </a:stretch>
        </p:blipFill>
        <p:spPr>
          <a:xfrm>
            <a:off x="8887538" y="1241264"/>
            <a:ext cx="5137309" cy="5217995"/>
          </a:xfrm>
          <a:prstGeom prst="rect">
            <a:avLst/>
          </a:prstGeom>
        </p:spPr>
      </p:pic>
    </p:spTree>
  </p:cSld>
  <p:clrMapOvr>
    <a:masterClrMapping/>
  </p:clrMapOvr>
</p:sld>
</file>

<file path=ppt/theme/theme1.xml><?xml version="1.0" encoding="utf-8"?>
<a:theme xmlns:a="http://schemas.openxmlformats.org/drawingml/2006/main" name="Gallery">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22</TotalTime>
  <Words>1452</Words>
  <Application>Microsoft Office PowerPoint</Application>
  <PresentationFormat>Custom</PresentationFormat>
  <Paragraphs>106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Public Sans</vt:lpstr>
      <vt:lpstr>Gill Sans MT</vt:lpstr>
      <vt:lpstr>Playfair Display Semi Bold</vt:lpstr>
      <vt:lpstr>Arial</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UK FMS</dc:creator>
  <cp:lastModifiedBy>ultra_kleanfms2025@outlook.com</cp:lastModifiedBy>
  <cp:revision>4</cp:revision>
  <dcterms:created xsi:type="dcterms:W3CDTF">2025-10-15T09:11:11Z</dcterms:created>
  <dcterms:modified xsi:type="dcterms:W3CDTF">2026-02-24T17:27:35Z</dcterms:modified>
</cp:coreProperties>
</file>